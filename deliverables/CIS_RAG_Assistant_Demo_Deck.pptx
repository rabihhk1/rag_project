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I will show how the original RAG assignment became a practical security assistant.
The brief was not only to produce answers. It required a complete chat experience: streaming, citations, saved conversations, response regeneration, and feedback.
What was delivered is a React workspace that guides users from a new chat into source-backed CIS Controls questions. It supports citations and response versions so answers can be reviewed, not treated as a black box. The security middleware work adds the right production foundation: identity, auditable requests, sessions, and rate limits.
The stack deliberately stays pragmatic: Python owns the AI workflow; React owns the experience; .NET and PostgreSQL add a security and identity boundary.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architecture separates the concerns that change at different speeds. React owns the user experience. FastAPI owns the existing RAG pipeline, including retrieval, reranking, and streaming.
When a user asks a question, Weaviate returns relevant CIS chunks. The RAG service reranks those chunks and sends the selected evidence to Ollama. The final response is streamed back with source metadata. MongoDB keeps the conversation and feedback records.
The justified decision is not to rewrite the already-working AI stack. Instead, .NET is a security gateway in front of it. It is the right place for identity, rotating sessions, audit logs, rate limits, and the internal key used to protect FastAPI from direct browser access.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biggest lesson was that a strong RAG product is more than one generated answer. It needs streaming that feels responsive, citations that make answers checkable, and response versions that preserve alternatives instead of hiding them.
The business value is clear: security teams can reach relevant CIS guidance faster and make more consistent decisions. The sources help users verify the answer, and the saved conversations make that work reusable.
Finally, feedback is not just a UI feature. A rating and reason create a measurable improvement loop. Over time it tells us where retrieval, prompt design, or document coverage should be improved. That is how the system becomes more useful while remaining accountable.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9111F"/>
        </a:solidFill>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51A8FF"/>
          </a:solidFill>
          <a:ln w="12700">
            <a:solidFill>
              <a:srgbClr val="51A8FF"/>
            </a:solidFill>
            <a:prstDash val="solid"/>
          </a:ln>
        </p:spPr>
      </p:sp>
      <p:sp>
        <p:nvSpPr>
          <p:cNvPr id="3" name="Shape 1"/>
          <p:cNvSpPr/>
          <p:nvPr/>
        </p:nvSpPr>
        <p:spPr>
          <a:xfrm rot="1500000">
            <a:off x="9784080" y="-1051560"/>
            <a:ext cx="3108960" cy="3108960"/>
          </a:xfrm>
          <a:prstGeom prst="arc">
            <a:avLst/>
          </a:prstGeom>
          <a:solidFill>
            <a:srgbClr val="102D4C">
              <a:alpha val="74000"/>
            </a:srgbClr>
          </a:solidFill>
          <a:ln w="12700">
            <a:solidFill>
              <a:srgbClr val="102D4C">
                <a:alpha val="0"/>
              </a:srgbClr>
            </a:solidFill>
            <a:prstDash val="solid"/>
          </a:ln>
        </p:spPr>
      </p:sp>
      <p:sp>
        <p:nvSpPr>
          <p:cNvPr id="4" name="Text 2"/>
          <p:cNvSpPr/>
          <p:nvPr/>
        </p:nvSpPr>
        <p:spPr>
          <a:xfrm>
            <a:off x="530352" y="274320"/>
            <a:ext cx="3657600" cy="201168"/>
          </a:xfrm>
          <a:prstGeom prst="rect">
            <a:avLst/>
          </a:prstGeom>
          <a:noFill/>
          <a:ln/>
        </p:spPr>
        <p:txBody>
          <a:bodyPr wrap="square" lIns="0" tIns="0" rIns="0" bIns="0" rtlCol="0" anchor="ctr"/>
          <a:lstStyle/>
          <a:p>
            <a:pPr indent="0" marL="0">
              <a:buNone/>
            </a:pPr>
            <a:r>
              <a:rPr lang="en-US" sz="750" b="1" spc="130" kern="0" dirty="0">
                <a:solidFill>
                  <a:srgbClr val="67E8F9"/>
                </a:solidFill>
                <a:latin typeface="Aptos" pitchFamily="34" charset="0"/>
                <a:ea typeface="Aptos" pitchFamily="34" charset="-122"/>
                <a:cs typeface="Aptos" pitchFamily="34" charset="-120"/>
              </a:rPr>
              <a:t>DELIVERY OVERVIEW</a:t>
            </a:r>
            <a:endParaRPr lang="en-US" sz="750" dirty="0"/>
          </a:p>
        </p:txBody>
      </p:sp>
      <p:sp>
        <p:nvSpPr>
          <p:cNvPr id="5" name="Text 3"/>
          <p:cNvSpPr/>
          <p:nvPr/>
        </p:nvSpPr>
        <p:spPr>
          <a:xfrm>
            <a:off x="11155680" y="6455664"/>
            <a:ext cx="457200" cy="164592"/>
          </a:xfrm>
          <a:prstGeom prst="rect">
            <a:avLst/>
          </a:prstGeom>
          <a:noFill/>
          <a:ln/>
        </p:spPr>
        <p:txBody>
          <a:bodyPr wrap="square" lIns="0" tIns="0" rIns="0" bIns="0" rtlCol="0" anchor="ctr"/>
          <a:lstStyle/>
          <a:p>
            <a:pPr algn="r" indent="0" marL="0">
              <a:buNone/>
            </a:pPr>
            <a:r>
              <a:rPr lang="en-US" sz="800" dirty="0">
                <a:solidFill>
                  <a:srgbClr val="A9B8CA"/>
                </a:solidFill>
              </a:rPr>
              <a:t>01</a:t>
            </a:r>
            <a:endParaRPr lang="en-US" sz="800" dirty="0"/>
          </a:p>
        </p:txBody>
      </p:sp>
      <p:sp>
        <p:nvSpPr>
          <p:cNvPr id="6" name="Text 4"/>
          <p:cNvSpPr/>
          <p:nvPr/>
        </p:nvSpPr>
        <p:spPr>
          <a:xfrm>
            <a:off x="530352" y="594360"/>
            <a:ext cx="10789920" cy="521208"/>
          </a:xfrm>
          <a:prstGeom prst="rect">
            <a:avLst/>
          </a:prstGeom>
          <a:noFill/>
          <a:ln/>
        </p:spPr>
        <p:txBody>
          <a:bodyPr wrap="square" lIns="0" tIns="0" rIns="0" bIns="0" rtlCol="0" anchor="ctr">
            <a:normAutofit/>
          </a:bodyPr>
          <a:lstStyle/>
          <a:p>
            <a:pPr indent="0" marL="0">
              <a:buNone/>
            </a:pPr>
            <a:r>
              <a:rPr lang="en-US" sz="2500" b="1" dirty="0">
                <a:solidFill>
                  <a:srgbClr val="F4F8FC"/>
                </a:solidFill>
              </a:rPr>
              <a:t>From RAG brief to a reviewable security assistant</a:t>
            </a:r>
            <a:endParaRPr lang="en-US" sz="2500" dirty="0"/>
          </a:p>
        </p:txBody>
      </p:sp>
      <p:sp>
        <p:nvSpPr>
          <p:cNvPr id="7" name="Text 5"/>
          <p:cNvSpPr/>
          <p:nvPr/>
        </p:nvSpPr>
        <p:spPr>
          <a:xfrm>
            <a:off x="548640" y="1152144"/>
            <a:ext cx="10332720" cy="283464"/>
          </a:xfrm>
          <a:prstGeom prst="rect">
            <a:avLst/>
          </a:prstGeom>
          <a:noFill/>
          <a:ln/>
        </p:spPr>
        <p:txBody>
          <a:bodyPr wrap="square" lIns="0" tIns="0" rIns="0" bIns="0" rtlCol="0" anchor="ctr">
            <a:normAutofit/>
          </a:bodyPr>
          <a:lstStyle/>
          <a:p>
            <a:pPr indent="0" marL="0">
              <a:buNone/>
            </a:pPr>
            <a:r>
              <a:rPr lang="en-US" sz="1050" dirty="0">
                <a:solidFill>
                  <a:srgbClr val="A9B8CA"/>
                </a:solidFill>
              </a:rPr>
              <a:t>What was requested, what was delivered, and the stack behind it.</a:t>
            </a:r>
            <a:endParaRPr lang="en-US" sz="1050" dirty="0"/>
          </a:p>
        </p:txBody>
      </p:sp>
      <p:sp>
        <p:nvSpPr>
          <p:cNvPr id="8" name="Shape 6"/>
          <p:cNvSpPr/>
          <p:nvPr/>
        </p:nvSpPr>
        <p:spPr>
          <a:xfrm>
            <a:off x="530352" y="1691640"/>
            <a:ext cx="5440680" cy="3273552"/>
          </a:xfrm>
          <a:prstGeom prst="roundRect">
            <a:avLst>
              <a:gd name="adj" fmla="val 2235"/>
            </a:avLst>
          </a:prstGeom>
          <a:solidFill>
            <a:srgbClr val="111D30"/>
          </a:solidFill>
          <a:ln w="10160">
            <a:solidFill>
              <a:srgbClr val="294462"/>
            </a:solidFill>
            <a:prstDash val="solid"/>
          </a:ln>
        </p:spPr>
      </p:sp>
      <p:sp>
        <p:nvSpPr>
          <p:cNvPr id="9" name="Shape 7"/>
          <p:cNvSpPr/>
          <p:nvPr/>
        </p:nvSpPr>
        <p:spPr>
          <a:xfrm>
            <a:off x="530352" y="1691640"/>
            <a:ext cx="45720" cy="3273552"/>
          </a:xfrm>
          <a:prstGeom prst="rect">
            <a:avLst/>
          </a:prstGeom>
          <a:solidFill>
            <a:srgbClr val="B7A6FF"/>
          </a:solidFill>
          <a:ln w="12700">
            <a:solidFill>
              <a:srgbClr val="B7A6FF"/>
            </a:solidFill>
            <a:prstDash val="solid"/>
          </a:ln>
        </p:spPr>
      </p:sp>
      <p:sp>
        <p:nvSpPr>
          <p:cNvPr id="10" name="Text 8"/>
          <p:cNvSpPr/>
          <p:nvPr/>
        </p:nvSpPr>
        <p:spPr>
          <a:xfrm>
            <a:off x="749808" y="1865376"/>
            <a:ext cx="5074920" cy="201168"/>
          </a:xfrm>
          <a:prstGeom prst="rect">
            <a:avLst/>
          </a:prstGeom>
          <a:noFill/>
          <a:ln/>
        </p:spPr>
        <p:txBody>
          <a:bodyPr wrap="square" lIns="0" tIns="0" rIns="0" bIns="0" rtlCol="0" anchor="ctr">
            <a:normAutofit/>
          </a:bodyPr>
          <a:lstStyle/>
          <a:p>
            <a:pPr indent="0" marL="0">
              <a:buNone/>
            </a:pPr>
            <a:r>
              <a:rPr lang="en-US" sz="1100" b="1" dirty="0">
                <a:solidFill>
                  <a:srgbClr val="F4F8FC"/>
                </a:solidFill>
              </a:rPr>
              <a:t>What was asked</a:t>
            </a:r>
            <a:endParaRPr lang="en-US" sz="1100" dirty="0"/>
          </a:p>
        </p:txBody>
      </p:sp>
      <p:sp>
        <p:nvSpPr>
          <p:cNvPr id="11" name="Shape 9"/>
          <p:cNvSpPr/>
          <p:nvPr/>
        </p:nvSpPr>
        <p:spPr>
          <a:xfrm>
            <a:off x="786384" y="2295144"/>
            <a:ext cx="64008" cy="64008"/>
          </a:xfrm>
          <a:prstGeom prst="ellipse">
            <a:avLst/>
          </a:prstGeom>
          <a:solidFill>
            <a:srgbClr val="67E8F9"/>
          </a:solidFill>
          <a:ln w="12700">
            <a:solidFill>
              <a:srgbClr val="67E8F9"/>
            </a:solidFill>
            <a:prstDash val="solid"/>
          </a:ln>
        </p:spPr>
      </p:sp>
      <p:sp>
        <p:nvSpPr>
          <p:cNvPr id="12" name="Text 10"/>
          <p:cNvSpPr/>
          <p:nvPr/>
        </p:nvSpPr>
        <p:spPr>
          <a:xfrm>
            <a:off x="950976" y="2221992"/>
            <a:ext cx="4636008" cy="256032"/>
          </a:xfrm>
          <a:prstGeom prst="rect">
            <a:avLst/>
          </a:prstGeom>
          <a:noFill/>
          <a:ln/>
        </p:spPr>
        <p:txBody>
          <a:bodyPr wrap="square" lIns="0" tIns="0" rIns="0" bIns="0" rtlCol="0" anchor="ctr">
            <a:normAutofit/>
          </a:bodyPr>
          <a:lstStyle/>
          <a:p>
            <a:pPr indent="0" marL="0">
              <a:buNone/>
            </a:pPr>
            <a:r>
              <a:rPr lang="en-US" sz="1000" dirty="0">
                <a:solidFill>
                  <a:srgbClr val="F4F8FC"/>
                </a:solidFill>
              </a:rPr>
              <a:t>CIS Controls RAG chat experience</a:t>
            </a:r>
            <a:endParaRPr lang="en-US" sz="1000" dirty="0"/>
          </a:p>
        </p:txBody>
      </p:sp>
      <p:sp>
        <p:nvSpPr>
          <p:cNvPr id="13" name="Shape 11"/>
          <p:cNvSpPr/>
          <p:nvPr/>
        </p:nvSpPr>
        <p:spPr>
          <a:xfrm>
            <a:off x="786384" y="2816352"/>
            <a:ext cx="64008" cy="64008"/>
          </a:xfrm>
          <a:prstGeom prst="ellipse">
            <a:avLst/>
          </a:prstGeom>
          <a:solidFill>
            <a:srgbClr val="67E8F9"/>
          </a:solidFill>
          <a:ln w="12700">
            <a:solidFill>
              <a:srgbClr val="67E8F9"/>
            </a:solidFill>
            <a:prstDash val="solid"/>
          </a:ln>
        </p:spPr>
      </p:sp>
      <p:sp>
        <p:nvSpPr>
          <p:cNvPr id="14" name="Text 12"/>
          <p:cNvSpPr/>
          <p:nvPr/>
        </p:nvSpPr>
        <p:spPr>
          <a:xfrm>
            <a:off x="950976" y="2743200"/>
            <a:ext cx="4636008" cy="256032"/>
          </a:xfrm>
          <a:prstGeom prst="rect">
            <a:avLst/>
          </a:prstGeom>
          <a:noFill/>
          <a:ln/>
        </p:spPr>
        <p:txBody>
          <a:bodyPr wrap="square" lIns="0" tIns="0" rIns="0" bIns="0" rtlCol="0" anchor="ctr">
            <a:normAutofit/>
          </a:bodyPr>
          <a:lstStyle/>
          <a:p>
            <a:pPr indent="0" marL="0">
              <a:buNone/>
            </a:pPr>
            <a:r>
              <a:rPr lang="en-US" sz="1000" dirty="0">
                <a:solidFill>
                  <a:srgbClr val="F4F8FC"/>
                </a:solidFill>
              </a:rPr>
              <a:t>Streaming responses with citations</a:t>
            </a:r>
            <a:endParaRPr lang="en-US" sz="1000" dirty="0"/>
          </a:p>
        </p:txBody>
      </p:sp>
      <p:sp>
        <p:nvSpPr>
          <p:cNvPr id="15" name="Shape 13"/>
          <p:cNvSpPr/>
          <p:nvPr/>
        </p:nvSpPr>
        <p:spPr>
          <a:xfrm>
            <a:off x="786384" y="3337560"/>
            <a:ext cx="64008" cy="64008"/>
          </a:xfrm>
          <a:prstGeom prst="ellipse">
            <a:avLst/>
          </a:prstGeom>
          <a:solidFill>
            <a:srgbClr val="67E8F9"/>
          </a:solidFill>
          <a:ln w="12700">
            <a:solidFill>
              <a:srgbClr val="67E8F9"/>
            </a:solidFill>
            <a:prstDash val="solid"/>
          </a:ln>
        </p:spPr>
      </p:sp>
      <p:sp>
        <p:nvSpPr>
          <p:cNvPr id="16" name="Text 14"/>
          <p:cNvSpPr/>
          <p:nvPr/>
        </p:nvSpPr>
        <p:spPr>
          <a:xfrm>
            <a:off x="950976" y="3264408"/>
            <a:ext cx="4636008" cy="256032"/>
          </a:xfrm>
          <a:prstGeom prst="rect">
            <a:avLst/>
          </a:prstGeom>
          <a:noFill/>
          <a:ln/>
        </p:spPr>
        <p:txBody>
          <a:bodyPr wrap="square" lIns="0" tIns="0" rIns="0" bIns="0" rtlCol="0" anchor="ctr">
            <a:normAutofit/>
          </a:bodyPr>
          <a:lstStyle/>
          <a:p>
            <a:pPr indent="0" marL="0">
              <a:buNone/>
            </a:pPr>
            <a:r>
              <a:rPr lang="en-US" sz="1000" dirty="0">
                <a:solidFill>
                  <a:srgbClr val="F4F8FC"/>
                </a:solidFill>
              </a:rPr>
              <a:t>Conversation persistence and history</a:t>
            </a:r>
            <a:endParaRPr lang="en-US" sz="1000" dirty="0"/>
          </a:p>
        </p:txBody>
      </p:sp>
      <p:sp>
        <p:nvSpPr>
          <p:cNvPr id="17" name="Shape 15"/>
          <p:cNvSpPr/>
          <p:nvPr/>
        </p:nvSpPr>
        <p:spPr>
          <a:xfrm>
            <a:off x="786384" y="3858768"/>
            <a:ext cx="64008" cy="64008"/>
          </a:xfrm>
          <a:prstGeom prst="ellipse">
            <a:avLst/>
          </a:prstGeom>
          <a:solidFill>
            <a:srgbClr val="67E8F9"/>
          </a:solidFill>
          <a:ln w="12700">
            <a:solidFill>
              <a:srgbClr val="67E8F9"/>
            </a:solidFill>
            <a:prstDash val="solid"/>
          </a:ln>
        </p:spPr>
      </p:sp>
      <p:sp>
        <p:nvSpPr>
          <p:cNvPr id="18" name="Text 16"/>
          <p:cNvSpPr/>
          <p:nvPr/>
        </p:nvSpPr>
        <p:spPr>
          <a:xfrm>
            <a:off x="950976" y="3785616"/>
            <a:ext cx="4636008" cy="256032"/>
          </a:xfrm>
          <a:prstGeom prst="rect">
            <a:avLst/>
          </a:prstGeom>
          <a:noFill/>
          <a:ln/>
        </p:spPr>
        <p:txBody>
          <a:bodyPr wrap="square" lIns="0" tIns="0" rIns="0" bIns="0" rtlCol="0" anchor="ctr">
            <a:normAutofit/>
          </a:bodyPr>
          <a:lstStyle/>
          <a:p>
            <a:pPr indent="0" marL="0">
              <a:buNone/>
            </a:pPr>
            <a:r>
              <a:rPr lang="en-US" sz="1000" dirty="0">
                <a:solidFill>
                  <a:srgbClr val="F4F8FC"/>
                </a:solidFill>
              </a:rPr>
              <a:t>Regeneration, feedback, and guided onboarding</a:t>
            </a:r>
            <a:endParaRPr lang="en-US" sz="1000" dirty="0"/>
          </a:p>
        </p:txBody>
      </p:sp>
      <p:sp>
        <p:nvSpPr>
          <p:cNvPr id="19" name="Shape 17"/>
          <p:cNvSpPr/>
          <p:nvPr/>
        </p:nvSpPr>
        <p:spPr>
          <a:xfrm>
            <a:off x="6208776" y="1691640"/>
            <a:ext cx="5440680" cy="3273552"/>
          </a:xfrm>
          <a:prstGeom prst="roundRect">
            <a:avLst>
              <a:gd name="adj" fmla="val 2235"/>
            </a:avLst>
          </a:prstGeom>
          <a:solidFill>
            <a:srgbClr val="111D30"/>
          </a:solidFill>
          <a:ln w="10160">
            <a:solidFill>
              <a:srgbClr val="294462"/>
            </a:solidFill>
            <a:prstDash val="solid"/>
          </a:ln>
        </p:spPr>
      </p:sp>
      <p:sp>
        <p:nvSpPr>
          <p:cNvPr id="20" name="Shape 18"/>
          <p:cNvSpPr/>
          <p:nvPr/>
        </p:nvSpPr>
        <p:spPr>
          <a:xfrm>
            <a:off x="6208776" y="1691640"/>
            <a:ext cx="45720" cy="3273552"/>
          </a:xfrm>
          <a:prstGeom prst="rect">
            <a:avLst/>
          </a:prstGeom>
          <a:solidFill>
            <a:srgbClr val="6EE7B7"/>
          </a:solidFill>
          <a:ln w="12700">
            <a:solidFill>
              <a:srgbClr val="6EE7B7"/>
            </a:solidFill>
            <a:prstDash val="solid"/>
          </a:ln>
        </p:spPr>
      </p:sp>
      <p:sp>
        <p:nvSpPr>
          <p:cNvPr id="21" name="Text 19"/>
          <p:cNvSpPr/>
          <p:nvPr/>
        </p:nvSpPr>
        <p:spPr>
          <a:xfrm>
            <a:off x="6428232" y="1865376"/>
            <a:ext cx="5074920" cy="201168"/>
          </a:xfrm>
          <a:prstGeom prst="rect">
            <a:avLst/>
          </a:prstGeom>
          <a:noFill/>
          <a:ln/>
        </p:spPr>
        <p:txBody>
          <a:bodyPr wrap="square" lIns="0" tIns="0" rIns="0" bIns="0" rtlCol="0" anchor="ctr">
            <a:normAutofit/>
          </a:bodyPr>
          <a:lstStyle/>
          <a:p>
            <a:pPr indent="0" marL="0">
              <a:buNone/>
            </a:pPr>
            <a:r>
              <a:rPr lang="en-US" sz="1100" b="1" dirty="0">
                <a:solidFill>
                  <a:srgbClr val="F4F8FC"/>
                </a:solidFill>
              </a:rPr>
              <a:t>What was shipped</a:t>
            </a:r>
            <a:endParaRPr lang="en-US" sz="1100" dirty="0"/>
          </a:p>
        </p:txBody>
      </p:sp>
      <p:sp>
        <p:nvSpPr>
          <p:cNvPr id="22" name="Shape 20"/>
          <p:cNvSpPr/>
          <p:nvPr/>
        </p:nvSpPr>
        <p:spPr>
          <a:xfrm>
            <a:off x="6464808" y="2295144"/>
            <a:ext cx="64008" cy="64008"/>
          </a:xfrm>
          <a:prstGeom prst="ellipse">
            <a:avLst/>
          </a:prstGeom>
          <a:solidFill>
            <a:srgbClr val="67E8F9"/>
          </a:solidFill>
          <a:ln w="12700">
            <a:solidFill>
              <a:srgbClr val="67E8F9"/>
            </a:solidFill>
            <a:prstDash val="solid"/>
          </a:ln>
        </p:spPr>
      </p:sp>
      <p:sp>
        <p:nvSpPr>
          <p:cNvPr id="23" name="Text 21"/>
          <p:cNvSpPr/>
          <p:nvPr/>
        </p:nvSpPr>
        <p:spPr>
          <a:xfrm>
            <a:off x="6629400" y="2221992"/>
            <a:ext cx="4590288" cy="256032"/>
          </a:xfrm>
          <a:prstGeom prst="rect">
            <a:avLst/>
          </a:prstGeom>
          <a:noFill/>
          <a:ln/>
        </p:spPr>
        <p:txBody>
          <a:bodyPr wrap="square" lIns="0" tIns="0" rIns="0" bIns="0" rtlCol="0" anchor="ctr">
            <a:normAutofit/>
          </a:bodyPr>
          <a:lstStyle/>
          <a:p>
            <a:pPr indent="0" marL="0">
              <a:buNone/>
            </a:pPr>
            <a:r>
              <a:rPr lang="en-US" sz="1000" dirty="0">
                <a:solidFill>
                  <a:srgbClr val="F4F8FC"/>
                </a:solidFill>
              </a:rPr>
              <a:t>Polished React chat workspace + welcome prompts</a:t>
            </a:r>
            <a:endParaRPr lang="en-US" sz="1000" dirty="0"/>
          </a:p>
        </p:txBody>
      </p:sp>
      <p:sp>
        <p:nvSpPr>
          <p:cNvPr id="24" name="Shape 22"/>
          <p:cNvSpPr/>
          <p:nvPr/>
        </p:nvSpPr>
        <p:spPr>
          <a:xfrm>
            <a:off x="6464808" y="2816352"/>
            <a:ext cx="64008" cy="64008"/>
          </a:xfrm>
          <a:prstGeom prst="ellipse">
            <a:avLst/>
          </a:prstGeom>
          <a:solidFill>
            <a:srgbClr val="67E8F9"/>
          </a:solidFill>
          <a:ln w="12700">
            <a:solidFill>
              <a:srgbClr val="67E8F9"/>
            </a:solidFill>
            <a:prstDash val="solid"/>
          </a:ln>
        </p:spPr>
      </p:sp>
      <p:sp>
        <p:nvSpPr>
          <p:cNvPr id="25" name="Text 23"/>
          <p:cNvSpPr/>
          <p:nvPr/>
        </p:nvSpPr>
        <p:spPr>
          <a:xfrm>
            <a:off x="6629400" y="2743200"/>
            <a:ext cx="4590288" cy="256032"/>
          </a:xfrm>
          <a:prstGeom prst="rect">
            <a:avLst/>
          </a:prstGeom>
          <a:noFill/>
          <a:ln/>
        </p:spPr>
        <p:txBody>
          <a:bodyPr wrap="square" lIns="0" tIns="0" rIns="0" bIns="0" rtlCol="0" anchor="ctr">
            <a:normAutofit/>
          </a:bodyPr>
          <a:lstStyle/>
          <a:p>
            <a:pPr indent="0" marL="0">
              <a:buNone/>
            </a:pPr>
            <a:r>
              <a:rPr lang="en-US" sz="1000" dirty="0">
                <a:solidFill>
                  <a:srgbClr val="F4F8FC"/>
                </a:solidFill>
              </a:rPr>
              <a:t>Grounded answers, source metadata, and versions</a:t>
            </a:r>
            <a:endParaRPr lang="en-US" sz="1000" dirty="0"/>
          </a:p>
        </p:txBody>
      </p:sp>
      <p:sp>
        <p:nvSpPr>
          <p:cNvPr id="26" name="Shape 24"/>
          <p:cNvSpPr/>
          <p:nvPr/>
        </p:nvSpPr>
        <p:spPr>
          <a:xfrm>
            <a:off x="6464808" y="3337560"/>
            <a:ext cx="64008" cy="64008"/>
          </a:xfrm>
          <a:prstGeom prst="ellipse">
            <a:avLst/>
          </a:prstGeom>
          <a:solidFill>
            <a:srgbClr val="67E8F9"/>
          </a:solidFill>
          <a:ln w="12700">
            <a:solidFill>
              <a:srgbClr val="67E8F9"/>
            </a:solidFill>
            <a:prstDash val="solid"/>
          </a:ln>
        </p:spPr>
      </p:sp>
      <p:sp>
        <p:nvSpPr>
          <p:cNvPr id="27" name="Text 25"/>
          <p:cNvSpPr/>
          <p:nvPr/>
        </p:nvSpPr>
        <p:spPr>
          <a:xfrm>
            <a:off x="6629400" y="3264408"/>
            <a:ext cx="4590288" cy="256032"/>
          </a:xfrm>
          <a:prstGeom prst="rect">
            <a:avLst/>
          </a:prstGeom>
          <a:noFill/>
          <a:ln/>
        </p:spPr>
        <p:txBody>
          <a:bodyPr wrap="square" lIns="0" tIns="0" rIns="0" bIns="0" rtlCol="0" anchor="ctr">
            <a:normAutofit/>
          </a:bodyPr>
          <a:lstStyle/>
          <a:p>
            <a:pPr indent="0" marL="0">
              <a:buNone/>
            </a:pPr>
            <a:r>
              <a:rPr lang="en-US" sz="1000" dirty="0">
                <a:solidFill>
                  <a:srgbClr val="F4F8FC"/>
                </a:solidFill>
              </a:rPr>
              <a:t>Saved threads, inline feedback, and analytics</a:t>
            </a:r>
            <a:endParaRPr lang="en-US" sz="1000" dirty="0"/>
          </a:p>
        </p:txBody>
      </p:sp>
      <p:sp>
        <p:nvSpPr>
          <p:cNvPr id="28" name="Shape 26"/>
          <p:cNvSpPr/>
          <p:nvPr/>
        </p:nvSpPr>
        <p:spPr>
          <a:xfrm>
            <a:off x="6464808" y="3858768"/>
            <a:ext cx="64008" cy="64008"/>
          </a:xfrm>
          <a:prstGeom prst="ellipse">
            <a:avLst/>
          </a:prstGeom>
          <a:solidFill>
            <a:srgbClr val="67E8F9"/>
          </a:solidFill>
          <a:ln w="12700">
            <a:solidFill>
              <a:srgbClr val="67E8F9"/>
            </a:solidFill>
            <a:prstDash val="solid"/>
          </a:ln>
        </p:spPr>
      </p:sp>
      <p:sp>
        <p:nvSpPr>
          <p:cNvPr id="29" name="Text 27"/>
          <p:cNvSpPr/>
          <p:nvPr/>
        </p:nvSpPr>
        <p:spPr>
          <a:xfrm>
            <a:off x="6629400" y="3785616"/>
            <a:ext cx="4590288" cy="256032"/>
          </a:xfrm>
          <a:prstGeom prst="rect">
            <a:avLst/>
          </a:prstGeom>
          <a:noFill/>
          <a:ln/>
        </p:spPr>
        <p:txBody>
          <a:bodyPr wrap="square" lIns="0" tIns="0" rIns="0" bIns="0" rtlCol="0" anchor="ctr">
            <a:normAutofit/>
          </a:bodyPr>
          <a:lstStyle/>
          <a:p>
            <a:pPr indent="0" marL="0">
              <a:buNone/>
            </a:pPr>
            <a:r>
              <a:rPr lang="en-US" sz="1000" dirty="0">
                <a:solidFill>
                  <a:srgbClr val="F4F8FC"/>
                </a:solidFill>
              </a:rPr>
              <a:t>Secure middleware foundation: identity, audit, rate limits</a:t>
            </a:r>
            <a:endParaRPr lang="en-US" sz="1000" dirty="0"/>
          </a:p>
        </p:txBody>
      </p:sp>
      <p:sp>
        <p:nvSpPr>
          <p:cNvPr id="30" name="Text 28"/>
          <p:cNvSpPr/>
          <p:nvPr/>
        </p:nvSpPr>
        <p:spPr>
          <a:xfrm>
            <a:off x="548640" y="5349240"/>
            <a:ext cx="1371600" cy="146304"/>
          </a:xfrm>
          <a:prstGeom prst="rect">
            <a:avLst/>
          </a:prstGeom>
          <a:noFill/>
          <a:ln/>
        </p:spPr>
        <p:txBody>
          <a:bodyPr wrap="square" lIns="0" tIns="0" rIns="0" bIns="0" rtlCol="0" anchor="ctr"/>
          <a:lstStyle/>
          <a:p>
            <a:pPr indent="0" marL="0">
              <a:buNone/>
            </a:pPr>
            <a:r>
              <a:rPr lang="en-US" sz="750" b="1" spc="120" kern="0" dirty="0">
                <a:solidFill>
                  <a:srgbClr val="A9B8CA"/>
                </a:solidFill>
              </a:rPr>
              <a:t>TECH STACK</a:t>
            </a:r>
            <a:endParaRPr lang="en-US" sz="750" dirty="0"/>
          </a:p>
        </p:txBody>
      </p:sp>
      <p:sp>
        <p:nvSpPr>
          <p:cNvPr id="31" name="Shape 29"/>
          <p:cNvSpPr/>
          <p:nvPr/>
        </p:nvSpPr>
        <p:spPr>
          <a:xfrm>
            <a:off x="548640" y="5623560"/>
            <a:ext cx="1325880" cy="301752"/>
          </a:xfrm>
          <a:prstGeom prst="roundRect">
            <a:avLst>
              <a:gd name="adj" fmla="val 18182"/>
            </a:avLst>
          </a:prstGeom>
          <a:solidFill>
            <a:srgbClr val="67E8F9">
              <a:alpha val="18000"/>
            </a:srgbClr>
          </a:solidFill>
          <a:ln w="7620">
            <a:solidFill>
              <a:srgbClr val="67E8F9">
                <a:alpha val="52000"/>
              </a:srgbClr>
            </a:solidFill>
            <a:prstDash val="solid"/>
          </a:ln>
        </p:spPr>
      </p:sp>
      <p:sp>
        <p:nvSpPr>
          <p:cNvPr id="32" name="Text 30"/>
          <p:cNvSpPr/>
          <p:nvPr/>
        </p:nvSpPr>
        <p:spPr>
          <a:xfrm>
            <a:off x="630936" y="5705856"/>
            <a:ext cx="1161288" cy="91440"/>
          </a:xfrm>
          <a:prstGeom prst="rect">
            <a:avLst/>
          </a:prstGeom>
          <a:noFill/>
          <a:ln/>
        </p:spPr>
        <p:txBody>
          <a:bodyPr wrap="square" lIns="0" tIns="0" rIns="0" bIns="0" rtlCol="0" anchor="ctr">
            <a:normAutofit/>
          </a:bodyPr>
          <a:lstStyle/>
          <a:p>
            <a:pPr algn="ctr" indent="0" marL="0">
              <a:buNone/>
            </a:pPr>
            <a:r>
              <a:rPr lang="en-US" sz="760" b="1" dirty="0">
                <a:solidFill>
                  <a:srgbClr val="67E8F9"/>
                </a:solidFill>
              </a:rPr>
              <a:t>React + Vite</a:t>
            </a:r>
            <a:endParaRPr lang="en-US" sz="760" dirty="0"/>
          </a:p>
        </p:txBody>
      </p:sp>
      <p:sp>
        <p:nvSpPr>
          <p:cNvPr id="33" name="Shape 31"/>
          <p:cNvSpPr/>
          <p:nvPr/>
        </p:nvSpPr>
        <p:spPr>
          <a:xfrm>
            <a:off x="2011680" y="5623560"/>
            <a:ext cx="1554480" cy="301752"/>
          </a:xfrm>
          <a:prstGeom prst="roundRect">
            <a:avLst>
              <a:gd name="adj" fmla="val 18182"/>
            </a:avLst>
          </a:prstGeom>
          <a:solidFill>
            <a:srgbClr val="6EE7B7">
              <a:alpha val="18000"/>
            </a:srgbClr>
          </a:solidFill>
          <a:ln w="7620">
            <a:solidFill>
              <a:srgbClr val="6EE7B7">
                <a:alpha val="52000"/>
              </a:srgbClr>
            </a:solidFill>
            <a:prstDash val="solid"/>
          </a:ln>
        </p:spPr>
      </p:sp>
      <p:sp>
        <p:nvSpPr>
          <p:cNvPr id="34" name="Text 32"/>
          <p:cNvSpPr/>
          <p:nvPr/>
        </p:nvSpPr>
        <p:spPr>
          <a:xfrm>
            <a:off x="2093976" y="5705856"/>
            <a:ext cx="1389888" cy="91440"/>
          </a:xfrm>
          <a:prstGeom prst="rect">
            <a:avLst/>
          </a:prstGeom>
          <a:noFill/>
          <a:ln/>
        </p:spPr>
        <p:txBody>
          <a:bodyPr wrap="square" lIns="0" tIns="0" rIns="0" bIns="0" rtlCol="0" anchor="ctr">
            <a:normAutofit/>
          </a:bodyPr>
          <a:lstStyle/>
          <a:p>
            <a:pPr algn="ctr" indent="0" marL="0">
              <a:buNone/>
            </a:pPr>
            <a:r>
              <a:rPr lang="en-US" sz="760" b="1" dirty="0">
                <a:solidFill>
                  <a:srgbClr val="6EE7B7"/>
                </a:solidFill>
              </a:rPr>
              <a:t>FastAPI + Python</a:t>
            </a:r>
            <a:endParaRPr lang="en-US" sz="760" dirty="0"/>
          </a:p>
        </p:txBody>
      </p:sp>
      <p:sp>
        <p:nvSpPr>
          <p:cNvPr id="35" name="Shape 33"/>
          <p:cNvSpPr/>
          <p:nvPr/>
        </p:nvSpPr>
        <p:spPr>
          <a:xfrm>
            <a:off x="3703320" y="5623560"/>
            <a:ext cx="1783080" cy="301752"/>
          </a:xfrm>
          <a:prstGeom prst="roundRect">
            <a:avLst>
              <a:gd name="adj" fmla="val 18182"/>
            </a:avLst>
          </a:prstGeom>
          <a:solidFill>
            <a:srgbClr val="B7A6FF">
              <a:alpha val="18000"/>
            </a:srgbClr>
          </a:solidFill>
          <a:ln w="7620">
            <a:solidFill>
              <a:srgbClr val="B7A6FF">
                <a:alpha val="52000"/>
              </a:srgbClr>
            </a:solidFill>
            <a:prstDash val="solid"/>
          </a:ln>
        </p:spPr>
      </p:sp>
      <p:sp>
        <p:nvSpPr>
          <p:cNvPr id="36" name="Text 34"/>
          <p:cNvSpPr/>
          <p:nvPr/>
        </p:nvSpPr>
        <p:spPr>
          <a:xfrm>
            <a:off x="3785616" y="5705856"/>
            <a:ext cx="1618488" cy="91440"/>
          </a:xfrm>
          <a:prstGeom prst="rect">
            <a:avLst/>
          </a:prstGeom>
          <a:noFill/>
          <a:ln/>
        </p:spPr>
        <p:txBody>
          <a:bodyPr wrap="square" lIns="0" tIns="0" rIns="0" bIns="0" rtlCol="0" anchor="ctr">
            <a:normAutofit/>
          </a:bodyPr>
          <a:lstStyle/>
          <a:p>
            <a:pPr algn="ctr" indent="0" marL="0">
              <a:buNone/>
            </a:pPr>
            <a:r>
              <a:rPr lang="en-US" sz="760" b="1" dirty="0">
                <a:solidFill>
                  <a:srgbClr val="B7A6FF"/>
                </a:solidFill>
              </a:rPr>
              <a:t>MongoDB + Weaviate</a:t>
            </a:r>
            <a:endParaRPr lang="en-US" sz="760" dirty="0"/>
          </a:p>
        </p:txBody>
      </p:sp>
      <p:sp>
        <p:nvSpPr>
          <p:cNvPr id="37" name="Shape 35"/>
          <p:cNvSpPr/>
          <p:nvPr/>
        </p:nvSpPr>
        <p:spPr>
          <a:xfrm>
            <a:off x="5623560" y="5623560"/>
            <a:ext cx="960120" cy="301752"/>
          </a:xfrm>
          <a:prstGeom prst="roundRect">
            <a:avLst>
              <a:gd name="adj" fmla="val 18182"/>
            </a:avLst>
          </a:prstGeom>
          <a:solidFill>
            <a:srgbClr val="FBBF24">
              <a:alpha val="18000"/>
            </a:srgbClr>
          </a:solidFill>
          <a:ln w="7620">
            <a:solidFill>
              <a:srgbClr val="FBBF24">
                <a:alpha val="52000"/>
              </a:srgbClr>
            </a:solidFill>
            <a:prstDash val="solid"/>
          </a:ln>
        </p:spPr>
      </p:sp>
      <p:sp>
        <p:nvSpPr>
          <p:cNvPr id="38" name="Text 36"/>
          <p:cNvSpPr/>
          <p:nvPr/>
        </p:nvSpPr>
        <p:spPr>
          <a:xfrm>
            <a:off x="5705856" y="5705856"/>
            <a:ext cx="795528" cy="91440"/>
          </a:xfrm>
          <a:prstGeom prst="rect">
            <a:avLst/>
          </a:prstGeom>
          <a:noFill/>
          <a:ln/>
        </p:spPr>
        <p:txBody>
          <a:bodyPr wrap="square" lIns="0" tIns="0" rIns="0" bIns="0" rtlCol="0" anchor="ctr">
            <a:normAutofit/>
          </a:bodyPr>
          <a:lstStyle/>
          <a:p>
            <a:pPr algn="ctr" indent="0" marL="0">
              <a:buNone/>
            </a:pPr>
            <a:r>
              <a:rPr lang="en-US" sz="760" b="1" dirty="0">
                <a:solidFill>
                  <a:srgbClr val="FBBF24"/>
                </a:solidFill>
              </a:rPr>
              <a:t>Ollama</a:t>
            </a:r>
            <a:endParaRPr lang="en-US" sz="760" dirty="0"/>
          </a:p>
        </p:txBody>
      </p:sp>
      <p:sp>
        <p:nvSpPr>
          <p:cNvPr id="39" name="Shape 37"/>
          <p:cNvSpPr/>
          <p:nvPr/>
        </p:nvSpPr>
        <p:spPr>
          <a:xfrm>
            <a:off x="6720840" y="5623560"/>
            <a:ext cx="1965960" cy="301752"/>
          </a:xfrm>
          <a:prstGeom prst="roundRect">
            <a:avLst>
              <a:gd name="adj" fmla="val 18182"/>
            </a:avLst>
          </a:prstGeom>
          <a:solidFill>
            <a:srgbClr val="51A8FF">
              <a:alpha val="18000"/>
            </a:srgbClr>
          </a:solidFill>
          <a:ln w="7620">
            <a:solidFill>
              <a:srgbClr val="51A8FF">
                <a:alpha val="52000"/>
              </a:srgbClr>
            </a:solidFill>
            <a:prstDash val="solid"/>
          </a:ln>
        </p:spPr>
      </p:sp>
      <p:sp>
        <p:nvSpPr>
          <p:cNvPr id="40" name="Text 38"/>
          <p:cNvSpPr/>
          <p:nvPr/>
        </p:nvSpPr>
        <p:spPr>
          <a:xfrm>
            <a:off x="6803136" y="5705856"/>
            <a:ext cx="1801368" cy="91440"/>
          </a:xfrm>
          <a:prstGeom prst="rect">
            <a:avLst/>
          </a:prstGeom>
          <a:noFill/>
          <a:ln/>
        </p:spPr>
        <p:txBody>
          <a:bodyPr wrap="square" lIns="0" tIns="0" rIns="0" bIns="0" rtlCol="0" anchor="ctr">
            <a:normAutofit/>
          </a:bodyPr>
          <a:lstStyle/>
          <a:p>
            <a:pPr algn="ctr" indent="0" marL="0">
              <a:buNone/>
            </a:pPr>
            <a:r>
              <a:rPr lang="en-US" sz="760" b="1" dirty="0">
                <a:solidFill>
                  <a:srgbClr val="51A8FF"/>
                </a:solidFill>
              </a:rPr>
              <a:t>.NET 10 + PostgreSQL</a:t>
            </a:r>
            <a:endParaRPr lang="en-US" sz="760" dirty="0"/>
          </a:p>
        </p:txBody>
      </p:sp>
      <p:sp>
        <p:nvSpPr>
          <p:cNvPr id="41" name="Shape 39"/>
          <p:cNvSpPr/>
          <p:nvPr/>
        </p:nvSpPr>
        <p:spPr>
          <a:xfrm>
            <a:off x="8823960" y="5623560"/>
            <a:ext cx="960120" cy="301752"/>
          </a:xfrm>
          <a:prstGeom prst="roundRect">
            <a:avLst>
              <a:gd name="adj" fmla="val 18182"/>
            </a:avLst>
          </a:prstGeom>
          <a:solidFill>
            <a:srgbClr val="FDA4AF">
              <a:alpha val="18000"/>
            </a:srgbClr>
          </a:solidFill>
          <a:ln w="7620">
            <a:solidFill>
              <a:srgbClr val="FDA4AF">
                <a:alpha val="52000"/>
              </a:srgbClr>
            </a:solidFill>
            <a:prstDash val="solid"/>
          </a:ln>
        </p:spPr>
      </p:sp>
      <p:sp>
        <p:nvSpPr>
          <p:cNvPr id="42" name="Text 40"/>
          <p:cNvSpPr/>
          <p:nvPr/>
        </p:nvSpPr>
        <p:spPr>
          <a:xfrm>
            <a:off x="8906256" y="5705856"/>
            <a:ext cx="795528" cy="91440"/>
          </a:xfrm>
          <a:prstGeom prst="rect">
            <a:avLst/>
          </a:prstGeom>
          <a:noFill/>
          <a:ln/>
        </p:spPr>
        <p:txBody>
          <a:bodyPr wrap="square" lIns="0" tIns="0" rIns="0" bIns="0" rtlCol="0" anchor="ctr">
            <a:normAutofit/>
          </a:bodyPr>
          <a:lstStyle/>
          <a:p>
            <a:pPr algn="ctr" indent="0" marL="0">
              <a:buNone/>
            </a:pPr>
            <a:r>
              <a:rPr lang="en-US" sz="760" b="1" dirty="0">
                <a:solidFill>
                  <a:srgbClr val="FDA4AF"/>
                </a:solidFill>
              </a:rPr>
              <a:t>Docker</a:t>
            </a:r>
            <a:endParaRPr lang="en-US" sz="76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9111F"/>
        </a:solidFill>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51A8FF"/>
          </a:solidFill>
          <a:ln w="12700">
            <a:solidFill>
              <a:srgbClr val="51A8FF"/>
            </a:solidFill>
            <a:prstDash val="solid"/>
          </a:ln>
        </p:spPr>
      </p:sp>
      <p:sp>
        <p:nvSpPr>
          <p:cNvPr id="3" name="Shape 1"/>
          <p:cNvSpPr/>
          <p:nvPr/>
        </p:nvSpPr>
        <p:spPr>
          <a:xfrm rot="1500000">
            <a:off x="9784080" y="-1051560"/>
            <a:ext cx="3108960" cy="3108960"/>
          </a:xfrm>
          <a:prstGeom prst="arc">
            <a:avLst/>
          </a:prstGeom>
          <a:solidFill>
            <a:srgbClr val="102D4C">
              <a:alpha val="74000"/>
            </a:srgbClr>
          </a:solidFill>
          <a:ln w="12700">
            <a:solidFill>
              <a:srgbClr val="102D4C">
                <a:alpha val="0"/>
              </a:srgbClr>
            </a:solidFill>
            <a:prstDash val="solid"/>
          </a:ln>
        </p:spPr>
      </p:sp>
      <p:sp>
        <p:nvSpPr>
          <p:cNvPr id="4" name="Text 2"/>
          <p:cNvSpPr/>
          <p:nvPr/>
        </p:nvSpPr>
        <p:spPr>
          <a:xfrm>
            <a:off x="530352" y="274320"/>
            <a:ext cx="3657600" cy="201168"/>
          </a:xfrm>
          <a:prstGeom prst="rect">
            <a:avLst/>
          </a:prstGeom>
          <a:noFill/>
          <a:ln/>
        </p:spPr>
        <p:txBody>
          <a:bodyPr wrap="square" lIns="0" tIns="0" rIns="0" bIns="0" rtlCol="0" anchor="ctr"/>
          <a:lstStyle/>
          <a:p>
            <a:pPr indent="0" marL="0">
              <a:buNone/>
            </a:pPr>
            <a:r>
              <a:rPr lang="en-US" sz="750" b="1" spc="130" kern="0" dirty="0">
                <a:solidFill>
                  <a:srgbClr val="67E8F9"/>
                </a:solidFill>
                <a:latin typeface="Aptos" pitchFamily="34" charset="0"/>
                <a:ea typeface="Aptos" pitchFamily="34" charset="-122"/>
                <a:cs typeface="Aptos" pitchFamily="34" charset="-120"/>
              </a:rPr>
              <a:t>ARCHITECTURE</a:t>
            </a:r>
            <a:endParaRPr lang="en-US" sz="750" dirty="0"/>
          </a:p>
        </p:txBody>
      </p:sp>
      <p:sp>
        <p:nvSpPr>
          <p:cNvPr id="5" name="Text 3"/>
          <p:cNvSpPr/>
          <p:nvPr/>
        </p:nvSpPr>
        <p:spPr>
          <a:xfrm>
            <a:off x="11155680" y="6455664"/>
            <a:ext cx="457200" cy="164592"/>
          </a:xfrm>
          <a:prstGeom prst="rect">
            <a:avLst/>
          </a:prstGeom>
          <a:noFill/>
          <a:ln/>
        </p:spPr>
        <p:txBody>
          <a:bodyPr wrap="square" lIns="0" tIns="0" rIns="0" bIns="0" rtlCol="0" anchor="ctr"/>
          <a:lstStyle/>
          <a:p>
            <a:pPr algn="r" indent="0" marL="0">
              <a:buNone/>
            </a:pPr>
            <a:r>
              <a:rPr lang="en-US" sz="800" dirty="0">
                <a:solidFill>
                  <a:srgbClr val="A9B8CA"/>
                </a:solidFill>
              </a:rPr>
              <a:t>02</a:t>
            </a:r>
            <a:endParaRPr lang="en-US" sz="800" dirty="0"/>
          </a:p>
        </p:txBody>
      </p:sp>
      <p:sp>
        <p:nvSpPr>
          <p:cNvPr id="6" name="Text 4"/>
          <p:cNvSpPr/>
          <p:nvPr/>
        </p:nvSpPr>
        <p:spPr>
          <a:xfrm>
            <a:off x="530352" y="594360"/>
            <a:ext cx="10789920" cy="521208"/>
          </a:xfrm>
          <a:prstGeom prst="rect">
            <a:avLst/>
          </a:prstGeom>
          <a:noFill/>
          <a:ln/>
        </p:spPr>
        <p:txBody>
          <a:bodyPr wrap="square" lIns="0" tIns="0" rIns="0" bIns="0" rtlCol="0" anchor="ctr">
            <a:normAutofit/>
          </a:bodyPr>
          <a:lstStyle/>
          <a:p>
            <a:pPr indent="0" marL="0">
              <a:buNone/>
            </a:pPr>
            <a:r>
              <a:rPr lang="en-US" sz="2500" b="1" dirty="0">
                <a:solidFill>
                  <a:srgbClr val="F4F8FC"/>
                </a:solidFill>
              </a:rPr>
              <a:t>A clear boundary between user experience, security, and AI</a:t>
            </a:r>
            <a:endParaRPr lang="en-US" sz="2500" dirty="0"/>
          </a:p>
        </p:txBody>
      </p:sp>
      <p:sp>
        <p:nvSpPr>
          <p:cNvPr id="7" name="Text 5"/>
          <p:cNvSpPr/>
          <p:nvPr/>
        </p:nvSpPr>
        <p:spPr>
          <a:xfrm>
            <a:off x="548640" y="1152144"/>
            <a:ext cx="10332720" cy="283464"/>
          </a:xfrm>
          <a:prstGeom prst="rect">
            <a:avLst/>
          </a:prstGeom>
          <a:noFill/>
          <a:ln/>
        </p:spPr>
        <p:txBody>
          <a:bodyPr wrap="square" lIns="0" tIns="0" rIns="0" bIns="0" rtlCol="0" anchor="ctr">
            <a:normAutofit/>
          </a:bodyPr>
          <a:lstStyle/>
          <a:p>
            <a:pPr indent="0" marL="0">
              <a:buNone/>
            </a:pPr>
            <a:r>
              <a:rPr lang="en-US" sz="1050" dirty="0">
                <a:solidFill>
                  <a:srgbClr val="A9B8CA"/>
                </a:solidFill>
              </a:rPr>
              <a:t>RAG stays close to the existing Python pipeline; .NET becomes the public security gateway.</a:t>
            </a:r>
            <a:endParaRPr lang="en-US" sz="1050" dirty="0"/>
          </a:p>
        </p:txBody>
      </p:sp>
      <p:sp>
        <p:nvSpPr>
          <p:cNvPr id="8" name="Shape 6"/>
          <p:cNvSpPr/>
          <p:nvPr/>
        </p:nvSpPr>
        <p:spPr>
          <a:xfrm>
            <a:off x="594360" y="2011680"/>
            <a:ext cx="1691640" cy="1005840"/>
          </a:xfrm>
          <a:prstGeom prst="roundRect">
            <a:avLst>
              <a:gd name="adj" fmla="val 5455"/>
            </a:avLst>
          </a:prstGeom>
          <a:solidFill>
            <a:srgbClr val="15243A"/>
          </a:solidFill>
          <a:ln w="12700">
            <a:solidFill>
              <a:srgbClr val="67E8F9"/>
            </a:solidFill>
            <a:prstDash val="solid"/>
          </a:ln>
        </p:spPr>
      </p:sp>
      <p:sp>
        <p:nvSpPr>
          <p:cNvPr id="9" name="Text 7"/>
          <p:cNvSpPr/>
          <p:nvPr/>
        </p:nvSpPr>
        <p:spPr>
          <a:xfrm>
            <a:off x="676656" y="2267712"/>
            <a:ext cx="1527048" cy="438912"/>
          </a:xfrm>
          <a:prstGeom prst="rect">
            <a:avLst/>
          </a:prstGeom>
          <a:noFill/>
          <a:ln/>
        </p:spPr>
        <p:txBody>
          <a:bodyPr wrap="square" lIns="0" tIns="0" rIns="0" bIns="0" rtlCol="0" anchor="ctr">
            <a:normAutofit/>
          </a:bodyPr>
          <a:lstStyle/>
          <a:p>
            <a:pPr algn="ctr" indent="0" marL="0">
              <a:buNone/>
            </a:pPr>
            <a:r>
              <a:rPr lang="en-US" sz="1000" b="1" dirty="0">
                <a:solidFill>
                  <a:srgbClr val="F4F8FC"/>
                </a:solidFill>
              </a:rPr>
              <a:t>React</a:t>
            </a:r>
            <a:endParaRPr lang="en-US" sz="1000" dirty="0"/>
          </a:p>
          <a:p>
            <a:pPr algn="ctr" indent="0" marL="0">
              <a:buNone/>
            </a:pPr>
            <a:r>
              <a:rPr lang="en-US" sz="1000" b="1" dirty="0">
                <a:solidFill>
                  <a:srgbClr val="F4F8FC"/>
                </a:solidFill>
              </a:rPr>
              <a:t>chat UI</a:t>
            </a:r>
            <a:endParaRPr lang="en-US" sz="1000" dirty="0"/>
          </a:p>
        </p:txBody>
      </p:sp>
      <p:sp>
        <p:nvSpPr>
          <p:cNvPr id="10" name="Shape 8"/>
          <p:cNvSpPr/>
          <p:nvPr/>
        </p:nvSpPr>
        <p:spPr>
          <a:xfrm>
            <a:off x="2834640" y="2011680"/>
            <a:ext cx="2011680" cy="1005840"/>
          </a:xfrm>
          <a:prstGeom prst="roundRect">
            <a:avLst>
              <a:gd name="adj" fmla="val 5455"/>
            </a:avLst>
          </a:prstGeom>
          <a:solidFill>
            <a:srgbClr val="15243A"/>
          </a:solidFill>
          <a:ln w="12700">
            <a:solidFill>
              <a:srgbClr val="51A8FF"/>
            </a:solidFill>
            <a:prstDash val="solid"/>
          </a:ln>
        </p:spPr>
      </p:sp>
      <p:sp>
        <p:nvSpPr>
          <p:cNvPr id="11" name="Text 9"/>
          <p:cNvSpPr/>
          <p:nvPr/>
        </p:nvSpPr>
        <p:spPr>
          <a:xfrm>
            <a:off x="2916936" y="2267712"/>
            <a:ext cx="1847088" cy="438912"/>
          </a:xfrm>
          <a:prstGeom prst="rect">
            <a:avLst/>
          </a:prstGeom>
          <a:noFill/>
          <a:ln/>
        </p:spPr>
        <p:txBody>
          <a:bodyPr wrap="square" lIns="0" tIns="0" rIns="0" bIns="0" rtlCol="0" anchor="ctr">
            <a:normAutofit/>
          </a:bodyPr>
          <a:lstStyle/>
          <a:p>
            <a:pPr algn="ctr" indent="0" marL="0">
              <a:buNone/>
            </a:pPr>
            <a:r>
              <a:rPr lang="en-US" sz="1000" b="1" dirty="0">
                <a:solidFill>
                  <a:srgbClr val="F4F8FC"/>
                </a:solidFill>
              </a:rPr>
              <a:t>.NET middleware</a:t>
            </a:r>
            <a:endParaRPr lang="en-US" sz="1000" dirty="0"/>
          </a:p>
          <a:p>
            <a:pPr algn="ctr" indent="0" marL="0">
              <a:buNone/>
            </a:pPr>
            <a:r>
              <a:rPr lang="en-US" sz="1000" b="1" dirty="0">
                <a:solidFill>
                  <a:srgbClr val="F4F8FC"/>
                </a:solidFill>
              </a:rPr>
              <a:t>auth · audit · proxy</a:t>
            </a:r>
            <a:endParaRPr lang="en-US" sz="1000" dirty="0"/>
          </a:p>
        </p:txBody>
      </p:sp>
      <p:sp>
        <p:nvSpPr>
          <p:cNvPr id="12" name="Shape 10"/>
          <p:cNvSpPr/>
          <p:nvPr/>
        </p:nvSpPr>
        <p:spPr>
          <a:xfrm>
            <a:off x="5394960" y="2011680"/>
            <a:ext cx="1965960" cy="1005840"/>
          </a:xfrm>
          <a:prstGeom prst="roundRect">
            <a:avLst>
              <a:gd name="adj" fmla="val 5455"/>
            </a:avLst>
          </a:prstGeom>
          <a:solidFill>
            <a:srgbClr val="15243A"/>
          </a:solidFill>
          <a:ln w="12700">
            <a:solidFill>
              <a:srgbClr val="6EE7B7"/>
            </a:solidFill>
            <a:prstDash val="solid"/>
          </a:ln>
        </p:spPr>
      </p:sp>
      <p:sp>
        <p:nvSpPr>
          <p:cNvPr id="13" name="Text 11"/>
          <p:cNvSpPr/>
          <p:nvPr/>
        </p:nvSpPr>
        <p:spPr>
          <a:xfrm>
            <a:off x="5477256" y="2267712"/>
            <a:ext cx="1801368" cy="438912"/>
          </a:xfrm>
          <a:prstGeom prst="rect">
            <a:avLst/>
          </a:prstGeom>
          <a:noFill/>
          <a:ln/>
        </p:spPr>
        <p:txBody>
          <a:bodyPr wrap="square" lIns="0" tIns="0" rIns="0" bIns="0" rtlCol="0" anchor="ctr">
            <a:normAutofit/>
          </a:bodyPr>
          <a:lstStyle/>
          <a:p>
            <a:pPr algn="ctr" indent="0" marL="0">
              <a:buNone/>
            </a:pPr>
            <a:r>
              <a:rPr lang="en-US" sz="1000" b="1" dirty="0">
                <a:solidFill>
                  <a:srgbClr val="F4F8FC"/>
                </a:solidFill>
              </a:rPr>
              <a:t>FastAPI RAG</a:t>
            </a:r>
            <a:endParaRPr lang="en-US" sz="1000" dirty="0"/>
          </a:p>
          <a:p>
            <a:pPr algn="ctr" indent="0" marL="0">
              <a:buNone/>
            </a:pPr>
            <a:r>
              <a:rPr lang="en-US" sz="1000" b="1" dirty="0">
                <a:solidFill>
                  <a:srgbClr val="F4F8FC"/>
                </a:solidFill>
              </a:rPr>
              <a:t>retrieve · rerank · stream</a:t>
            </a:r>
            <a:endParaRPr lang="en-US" sz="1000" dirty="0"/>
          </a:p>
        </p:txBody>
      </p:sp>
      <p:sp>
        <p:nvSpPr>
          <p:cNvPr id="14" name="Shape 12"/>
          <p:cNvSpPr/>
          <p:nvPr/>
        </p:nvSpPr>
        <p:spPr>
          <a:xfrm>
            <a:off x="7955280" y="1325880"/>
            <a:ext cx="1508760" cy="749808"/>
          </a:xfrm>
          <a:prstGeom prst="roundRect">
            <a:avLst>
              <a:gd name="adj" fmla="val 7317"/>
            </a:avLst>
          </a:prstGeom>
          <a:solidFill>
            <a:srgbClr val="15243A"/>
          </a:solidFill>
          <a:ln w="12700">
            <a:solidFill>
              <a:srgbClr val="B7A6FF"/>
            </a:solidFill>
            <a:prstDash val="solid"/>
          </a:ln>
        </p:spPr>
      </p:sp>
      <p:sp>
        <p:nvSpPr>
          <p:cNvPr id="15" name="Text 13"/>
          <p:cNvSpPr/>
          <p:nvPr/>
        </p:nvSpPr>
        <p:spPr>
          <a:xfrm>
            <a:off x="8037576" y="1581912"/>
            <a:ext cx="1344168" cy="438912"/>
          </a:xfrm>
          <a:prstGeom prst="rect">
            <a:avLst/>
          </a:prstGeom>
          <a:noFill/>
          <a:ln/>
        </p:spPr>
        <p:txBody>
          <a:bodyPr wrap="square" lIns="0" tIns="0" rIns="0" bIns="0" rtlCol="0" anchor="ctr">
            <a:normAutofit/>
          </a:bodyPr>
          <a:lstStyle/>
          <a:p>
            <a:pPr algn="ctr" indent="0" marL="0">
              <a:buNone/>
            </a:pPr>
            <a:r>
              <a:rPr lang="en-US" sz="1000" b="1" dirty="0">
                <a:solidFill>
                  <a:srgbClr val="F4F8FC"/>
                </a:solidFill>
              </a:rPr>
              <a:t>Weaviate</a:t>
            </a:r>
            <a:endParaRPr lang="en-US" sz="1000" dirty="0"/>
          </a:p>
          <a:p>
            <a:pPr algn="ctr" indent="0" marL="0">
              <a:buNone/>
            </a:pPr>
            <a:r>
              <a:rPr lang="en-US" sz="1000" b="1" dirty="0">
                <a:solidFill>
                  <a:srgbClr val="F4F8FC"/>
                </a:solidFill>
              </a:rPr>
              <a:t>retrieval</a:t>
            </a:r>
            <a:endParaRPr lang="en-US" sz="1000" dirty="0"/>
          </a:p>
        </p:txBody>
      </p:sp>
      <p:sp>
        <p:nvSpPr>
          <p:cNvPr id="16" name="Shape 14"/>
          <p:cNvSpPr/>
          <p:nvPr/>
        </p:nvSpPr>
        <p:spPr>
          <a:xfrm>
            <a:off x="7955280" y="2331720"/>
            <a:ext cx="1508760" cy="749808"/>
          </a:xfrm>
          <a:prstGeom prst="roundRect">
            <a:avLst>
              <a:gd name="adj" fmla="val 7317"/>
            </a:avLst>
          </a:prstGeom>
          <a:solidFill>
            <a:srgbClr val="15243A"/>
          </a:solidFill>
          <a:ln w="12700">
            <a:solidFill>
              <a:srgbClr val="FBBF24"/>
            </a:solidFill>
            <a:prstDash val="solid"/>
          </a:ln>
        </p:spPr>
      </p:sp>
      <p:sp>
        <p:nvSpPr>
          <p:cNvPr id="17" name="Text 15"/>
          <p:cNvSpPr/>
          <p:nvPr/>
        </p:nvSpPr>
        <p:spPr>
          <a:xfrm>
            <a:off x="8037576" y="2587752"/>
            <a:ext cx="1344168" cy="438912"/>
          </a:xfrm>
          <a:prstGeom prst="rect">
            <a:avLst/>
          </a:prstGeom>
          <a:noFill/>
          <a:ln/>
        </p:spPr>
        <p:txBody>
          <a:bodyPr wrap="square" lIns="0" tIns="0" rIns="0" bIns="0" rtlCol="0" anchor="ctr">
            <a:normAutofit/>
          </a:bodyPr>
          <a:lstStyle/>
          <a:p>
            <a:pPr algn="ctr" indent="0" marL="0">
              <a:buNone/>
            </a:pPr>
            <a:r>
              <a:rPr lang="en-US" sz="1000" b="1" dirty="0">
                <a:solidFill>
                  <a:srgbClr val="F4F8FC"/>
                </a:solidFill>
              </a:rPr>
              <a:t>Ollama</a:t>
            </a:r>
            <a:endParaRPr lang="en-US" sz="1000" dirty="0"/>
          </a:p>
          <a:p>
            <a:pPr algn="ctr" indent="0" marL="0">
              <a:buNone/>
            </a:pPr>
            <a:r>
              <a:rPr lang="en-US" sz="1000" b="1" dirty="0">
                <a:solidFill>
                  <a:srgbClr val="F4F8FC"/>
                </a:solidFill>
              </a:rPr>
              <a:t>generation</a:t>
            </a:r>
            <a:endParaRPr lang="en-US" sz="1000" dirty="0"/>
          </a:p>
        </p:txBody>
      </p:sp>
      <p:sp>
        <p:nvSpPr>
          <p:cNvPr id="18" name="Shape 16"/>
          <p:cNvSpPr/>
          <p:nvPr/>
        </p:nvSpPr>
        <p:spPr>
          <a:xfrm>
            <a:off x="7955280" y="3337560"/>
            <a:ext cx="1508760" cy="749808"/>
          </a:xfrm>
          <a:prstGeom prst="roundRect">
            <a:avLst>
              <a:gd name="adj" fmla="val 7317"/>
            </a:avLst>
          </a:prstGeom>
          <a:solidFill>
            <a:srgbClr val="15243A"/>
          </a:solidFill>
          <a:ln w="12700">
            <a:solidFill>
              <a:srgbClr val="67E8F9"/>
            </a:solidFill>
            <a:prstDash val="solid"/>
          </a:ln>
        </p:spPr>
      </p:sp>
      <p:sp>
        <p:nvSpPr>
          <p:cNvPr id="19" name="Text 17"/>
          <p:cNvSpPr/>
          <p:nvPr/>
        </p:nvSpPr>
        <p:spPr>
          <a:xfrm>
            <a:off x="8037576" y="3593592"/>
            <a:ext cx="1344168" cy="438912"/>
          </a:xfrm>
          <a:prstGeom prst="rect">
            <a:avLst/>
          </a:prstGeom>
          <a:noFill/>
          <a:ln/>
        </p:spPr>
        <p:txBody>
          <a:bodyPr wrap="square" lIns="0" tIns="0" rIns="0" bIns="0" rtlCol="0" anchor="ctr">
            <a:normAutofit/>
          </a:bodyPr>
          <a:lstStyle/>
          <a:p>
            <a:pPr algn="ctr" indent="0" marL="0">
              <a:buNone/>
            </a:pPr>
            <a:r>
              <a:rPr lang="en-US" sz="1000" b="1" dirty="0">
                <a:solidFill>
                  <a:srgbClr val="F4F8FC"/>
                </a:solidFill>
              </a:rPr>
              <a:t>MongoDB</a:t>
            </a:r>
            <a:endParaRPr lang="en-US" sz="1000" dirty="0"/>
          </a:p>
          <a:p>
            <a:pPr algn="ctr" indent="0" marL="0">
              <a:buNone/>
            </a:pPr>
            <a:r>
              <a:rPr lang="en-US" sz="1000" b="1" dirty="0">
                <a:solidFill>
                  <a:srgbClr val="F4F8FC"/>
                </a:solidFill>
              </a:rPr>
              <a:t>threads + feedback</a:t>
            </a:r>
            <a:endParaRPr lang="en-US" sz="1000" dirty="0"/>
          </a:p>
        </p:txBody>
      </p:sp>
      <p:sp>
        <p:nvSpPr>
          <p:cNvPr id="20" name="Shape 18"/>
          <p:cNvSpPr/>
          <p:nvPr/>
        </p:nvSpPr>
        <p:spPr>
          <a:xfrm>
            <a:off x="10104120" y="2011680"/>
            <a:ext cx="1508760" cy="1005840"/>
          </a:xfrm>
          <a:prstGeom prst="roundRect">
            <a:avLst>
              <a:gd name="adj" fmla="val 5455"/>
            </a:avLst>
          </a:prstGeom>
          <a:solidFill>
            <a:srgbClr val="15243A"/>
          </a:solidFill>
          <a:ln w="12700">
            <a:solidFill>
              <a:srgbClr val="FDA4AF"/>
            </a:solidFill>
            <a:prstDash val="solid"/>
          </a:ln>
        </p:spPr>
      </p:sp>
      <p:sp>
        <p:nvSpPr>
          <p:cNvPr id="21" name="Text 19"/>
          <p:cNvSpPr/>
          <p:nvPr/>
        </p:nvSpPr>
        <p:spPr>
          <a:xfrm>
            <a:off x="10186416" y="2267712"/>
            <a:ext cx="1344168" cy="438912"/>
          </a:xfrm>
          <a:prstGeom prst="rect">
            <a:avLst/>
          </a:prstGeom>
          <a:noFill/>
          <a:ln/>
        </p:spPr>
        <p:txBody>
          <a:bodyPr wrap="square" lIns="0" tIns="0" rIns="0" bIns="0" rtlCol="0" anchor="ctr">
            <a:normAutofit/>
          </a:bodyPr>
          <a:lstStyle/>
          <a:p>
            <a:pPr algn="ctr" indent="0" marL="0">
              <a:buNone/>
            </a:pPr>
            <a:r>
              <a:rPr lang="en-US" sz="1000" b="1" dirty="0">
                <a:solidFill>
                  <a:srgbClr val="F4F8FC"/>
                </a:solidFill>
              </a:rPr>
              <a:t>PostgreSQL</a:t>
            </a:r>
            <a:endParaRPr lang="en-US" sz="1000" dirty="0"/>
          </a:p>
          <a:p>
            <a:pPr algn="ctr" indent="0" marL="0">
              <a:buNone/>
            </a:pPr>
            <a:r>
              <a:rPr lang="en-US" sz="1000" b="1" dirty="0">
                <a:solidFill>
                  <a:srgbClr val="F4F8FC"/>
                </a:solidFill>
              </a:rPr>
              <a:t>identity + audit</a:t>
            </a:r>
            <a:endParaRPr lang="en-US" sz="1000" dirty="0"/>
          </a:p>
        </p:txBody>
      </p:sp>
      <p:sp>
        <p:nvSpPr>
          <p:cNvPr id="22" name="Shape 20"/>
          <p:cNvSpPr/>
          <p:nvPr/>
        </p:nvSpPr>
        <p:spPr>
          <a:xfrm>
            <a:off x="2286000" y="2514600"/>
            <a:ext cx="548640" cy="0"/>
          </a:xfrm>
          <a:prstGeom prst="line">
            <a:avLst/>
          </a:prstGeom>
          <a:noFill/>
          <a:ln w="17780">
            <a:solidFill>
              <a:srgbClr val="A9B8CA"/>
            </a:solidFill>
            <a:prstDash val="solid"/>
            <a:headEnd type="none"/>
            <a:tailEnd type="triangle"/>
          </a:ln>
        </p:spPr>
      </p:sp>
      <p:sp>
        <p:nvSpPr>
          <p:cNvPr id="23" name="Shape 21"/>
          <p:cNvSpPr/>
          <p:nvPr/>
        </p:nvSpPr>
        <p:spPr>
          <a:xfrm>
            <a:off x="4846320" y="2514600"/>
            <a:ext cx="548640" cy="0"/>
          </a:xfrm>
          <a:prstGeom prst="line">
            <a:avLst/>
          </a:prstGeom>
          <a:noFill/>
          <a:ln w="17780">
            <a:solidFill>
              <a:srgbClr val="A9B8CA"/>
            </a:solidFill>
            <a:prstDash val="solid"/>
            <a:headEnd type="none"/>
            <a:tailEnd type="triangle"/>
          </a:ln>
        </p:spPr>
      </p:sp>
      <p:sp>
        <p:nvSpPr>
          <p:cNvPr id="24" name="Shape 22"/>
          <p:cNvSpPr/>
          <p:nvPr/>
        </p:nvSpPr>
        <p:spPr>
          <a:xfrm>
            <a:off x="7360920" y="2514600"/>
            <a:ext cx="594360" cy="-813816"/>
          </a:xfrm>
          <a:prstGeom prst="line">
            <a:avLst/>
          </a:prstGeom>
          <a:noFill/>
          <a:ln w="17780">
            <a:solidFill>
              <a:srgbClr val="A9B8CA"/>
            </a:solidFill>
            <a:prstDash val="solid"/>
            <a:headEnd type="none"/>
            <a:tailEnd type="triangle"/>
          </a:ln>
        </p:spPr>
      </p:sp>
      <p:sp>
        <p:nvSpPr>
          <p:cNvPr id="25" name="Shape 23"/>
          <p:cNvSpPr/>
          <p:nvPr/>
        </p:nvSpPr>
        <p:spPr>
          <a:xfrm>
            <a:off x="7360920" y="2514600"/>
            <a:ext cx="594360" cy="192024"/>
          </a:xfrm>
          <a:prstGeom prst="line">
            <a:avLst/>
          </a:prstGeom>
          <a:noFill/>
          <a:ln w="17780">
            <a:solidFill>
              <a:srgbClr val="A9B8CA"/>
            </a:solidFill>
            <a:prstDash val="solid"/>
            <a:headEnd type="none"/>
            <a:tailEnd type="triangle"/>
          </a:ln>
        </p:spPr>
      </p:sp>
      <p:sp>
        <p:nvSpPr>
          <p:cNvPr id="26" name="Shape 24"/>
          <p:cNvSpPr/>
          <p:nvPr/>
        </p:nvSpPr>
        <p:spPr>
          <a:xfrm>
            <a:off x="7360920" y="2514600"/>
            <a:ext cx="594360" cy="1197864"/>
          </a:xfrm>
          <a:prstGeom prst="line">
            <a:avLst/>
          </a:prstGeom>
          <a:noFill/>
          <a:ln w="17780">
            <a:solidFill>
              <a:srgbClr val="A9B8CA"/>
            </a:solidFill>
            <a:prstDash val="solid"/>
            <a:headEnd type="none"/>
            <a:tailEnd type="triangle"/>
          </a:ln>
        </p:spPr>
      </p:sp>
      <p:sp>
        <p:nvSpPr>
          <p:cNvPr id="27" name="Shape 25"/>
          <p:cNvSpPr/>
          <p:nvPr/>
        </p:nvSpPr>
        <p:spPr>
          <a:xfrm>
            <a:off x="9464040" y="2514600"/>
            <a:ext cx="640080" cy="0"/>
          </a:xfrm>
          <a:prstGeom prst="line">
            <a:avLst/>
          </a:prstGeom>
          <a:noFill/>
          <a:ln w="17780">
            <a:solidFill>
              <a:srgbClr val="A9B8CA"/>
            </a:solidFill>
            <a:prstDash val="solid"/>
            <a:headEnd type="none"/>
            <a:tailEnd type="triangle"/>
          </a:ln>
        </p:spPr>
      </p:sp>
      <p:sp>
        <p:nvSpPr>
          <p:cNvPr id="28" name="Shape 26"/>
          <p:cNvSpPr/>
          <p:nvPr/>
        </p:nvSpPr>
        <p:spPr>
          <a:xfrm>
            <a:off x="594360" y="4800600"/>
            <a:ext cx="11018520" cy="960120"/>
          </a:xfrm>
          <a:prstGeom prst="roundRect">
            <a:avLst>
              <a:gd name="adj" fmla="val 7619"/>
            </a:avLst>
          </a:prstGeom>
          <a:solidFill>
            <a:srgbClr val="111D30"/>
          </a:solidFill>
          <a:ln w="10160">
            <a:solidFill>
              <a:srgbClr val="294462"/>
            </a:solidFill>
            <a:prstDash val="solid"/>
          </a:ln>
        </p:spPr>
      </p:sp>
      <p:sp>
        <p:nvSpPr>
          <p:cNvPr id="29" name="Shape 27"/>
          <p:cNvSpPr/>
          <p:nvPr/>
        </p:nvSpPr>
        <p:spPr>
          <a:xfrm>
            <a:off x="594360" y="4800600"/>
            <a:ext cx="45720" cy="960120"/>
          </a:xfrm>
          <a:prstGeom prst="rect">
            <a:avLst/>
          </a:prstGeom>
          <a:solidFill>
            <a:srgbClr val="67E8F9"/>
          </a:solidFill>
          <a:ln w="12700">
            <a:solidFill>
              <a:srgbClr val="67E8F9"/>
            </a:solidFill>
            <a:prstDash val="solid"/>
          </a:ln>
        </p:spPr>
      </p:sp>
      <p:sp>
        <p:nvSpPr>
          <p:cNvPr id="30" name="Text 28"/>
          <p:cNvSpPr/>
          <p:nvPr/>
        </p:nvSpPr>
        <p:spPr>
          <a:xfrm>
            <a:off x="813816" y="4974336"/>
            <a:ext cx="10652760" cy="201168"/>
          </a:xfrm>
          <a:prstGeom prst="rect">
            <a:avLst/>
          </a:prstGeom>
          <a:noFill/>
          <a:ln/>
        </p:spPr>
        <p:txBody>
          <a:bodyPr wrap="square" lIns="0" tIns="0" rIns="0" bIns="0" rtlCol="0" anchor="ctr">
            <a:normAutofit/>
          </a:bodyPr>
          <a:lstStyle/>
          <a:p>
            <a:pPr indent="0" marL="0">
              <a:buNone/>
            </a:pPr>
            <a:r>
              <a:rPr lang="en-US" sz="1100" b="1" dirty="0">
                <a:solidFill>
                  <a:srgbClr val="F4F8FC"/>
                </a:solidFill>
              </a:rPr>
              <a:t>Why this decision</a:t>
            </a:r>
            <a:endParaRPr lang="en-US" sz="1100" dirty="0"/>
          </a:p>
        </p:txBody>
      </p:sp>
      <p:sp>
        <p:nvSpPr>
          <p:cNvPr id="31" name="Text 29"/>
          <p:cNvSpPr/>
          <p:nvPr/>
        </p:nvSpPr>
        <p:spPr>
          <a:xfrm>
            <a:off x="868680" y="5230368"/>
            <a:ext cx="10469880" cy="256032"/>
          </a:xfrm>
          <a:prstGeom prst="rect">
            <a:avLst/>
          </a:prstGeom>
          <a:noFill/>
          <a:ln/>
        </p:spPr>
        <p:txBody>
          <a:bodyPr wrap="square" lIns="0" tIns="0" rIns="0" bIns="0" rtlCol="0" anchor="ctr">
            <a:normAutofit/>
          </a:bodyPr>
          <a:lstStyle/>
          <a:p>
            <a:pPr indent="0" marL="0">
              <a:buNone/>
            </a:pPr>
            <a:r>
              <a:rPr lang="en-US" sz="1100" dirty="0">
                <a:solidFill>
                  <a:srgbClr val="F4F8FC"/>
                </a:solidFill>
              </a:rPr>
              <a:t>Keep the working RAG pipeline in Python; use .NET as the public gateway for authentication, user isolation, rate limiting, auditability, and private service-to-service access.</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9111F"/>
        </a:solidFill>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51A8FF"/>
          </a:solidFill>
          <a:ln w="12700">
            <a:solidFill>
              <a:srgbClr val="51A8FF"/>
            </a:solidFill>
            <a:prstDash val="solid"/>
          </a:ln>
        </p:spPr>
      </p:sp>
      <p:sp>
        <p:nvSpPr>
          <p:cNvPr id="3" name="Shape 1"/>
          <p:cNvSpPr/>
          <p:nvPr/>
        </p:nvSpPr>
        <p:spPr>
          <a:xfrm rot="1500000">
            <a:off x="9784080" y="-1051560"/>
            <a:ext cx="3108960" cy="3108960"/>
          </a:xfrm>
          <a:prstGeom prst="arc">
            <a:avLst/>
          </a:prstGeom>
          <a:solidFill>
            <a:srgbClr val="102D4C">
              <a:alpha val="74000"/>
            </a:srgbClr>
          </a:solidFill>
          <a:ln w="12700">
            <a:solidFill>
              <a:srgbClr val="102D4C">
                <a:alpha val="0"/>
              </a:srgbClr>
            </a:solidFill>
            <a:prstDash val="solid"/>
          </a:ln>
        </p:spPr>
      </p:sp>
      <p:sp>
        <p:nvSpPr>
          <p:cNvPr id="4" name="Text 2"/>
          <p:cNvSpPr/>
          <p:nvPr/>
        </p:nvSpPr>
        <p:spPr>
          <a:xfrm>
            <a:off x="530352" y="274320"/>
            <a:ext cx="3657600" cy="201168"/>
          </a:xfrm>
          <a:prstGeom prst="rect">
            <a:avLst/>
          </a:prstGeom>
          <a:noFill/>
          <a:ln/>
        </p:spPr>
        <p:txBody>
          <a:bodyPr wrap="square" lIns="0" tIns="0" rIns="0" bIns="0" rtlCol="0" anchor="ctr"/>
          <a:lstStyle/>
          <a:p>
            <a:pPr indent="0" marL="0">
              <a:buNone/>
            </a:pPr>
            <a:r>
              <a:rPr lang="en-US" sz="750" b="1" spc="130" kern="0" dirty="0">
                <a:solidFill>
                  <a:srgbClr val="67E8F9"/>
                </a:solidFill>
                <a:latin typeface="Aptos" pitchFamily="34" charset="0"/>
                <a:ea typeface="Aptos" pitchFamily="34" charset="-122"/>
                <a:cs typeface="Aptos" pitchFamily="34" charset="-120"/>
              </a:rPr>
              <a:t>IMPACT</a:t>
            </a:r>
            <a:endParaRPr lang="en-US" sz="750" dirty="0"/>
          </a:p>
        </p:txBody>
      </p:sp>
      <p:sp>
        <p:nvSpPr>
          <p:cNvPr id="5" name="Text 3"/>
          <p:cNvSpPr/>
          <p:nvPr/>
        </p:nvSpPr>
        <p:spPr>
          <a:xfrm>
            <a:off x="11155680" y="6455664"/>
            <a:ext cx="457200" cy="164592"/>
          </a:xfrm>
          <a:prstGeom prst="rect">
            <a:avLst/>
          </a:prstGeom>
          <a:noFill/>
          <a:ln/>
        </p:spPr>
        <p:txBody>
          <a:bodyPr wrap="square" lIns="0" tIns="0" rIns="0" bIns="0" rtlCol="0" anchor="ctr"/>
          <a:lstStyle/>
          <a:p>
            <a:pPr algn="r" indent="0" marL="0">
              <a:buNone/>
            </a:pPr>
            <a:r>
              <a:rPr lang="en-US" sz="800" dirty="0">
                <a:solidFill>
                  <a:srgbClr val="A9B8CA"/>
                </a:solidFill>
              </a:rPr>
              <a:t>03</a:t>
            </a:r>
            <a:endParaRPr lang="en-US" sz="800" dirty="0"/>
          </a:p>
        </p:txBody>
      </p:sp>
      <p:sp>
        <p:nvSpPr>
          <p:cNvPr id="6" name="Text 4"/>
          <p:cNvSpPr/>
          <p:nvPr/>
        </p:nvSpPr>
        <p:spPr>
          <a:xfrm>
            <a:off x="530352" y="594360"/>
            <a:ext cx="10789920" cy="521208"/>
          </a:xfrm>
          <a:prstGeom prst="rect">
            <a:avLst/>
          </a:prstGeom>
          <a:noFill/>
          <a:ln/>
        </p:spPr>
        <p:txBody>
          <a:bodyPr wrap="square" lIns="0" tIns="0" rIns="0" bIns="0" rtlCol="0" anchor="ctr">
            <a:normAutofit/>
          </a:bodyPr>
          <a:lstStyle/>
          <a:p>
            <a:pPr indent="0" marL="0">
              <a:buNone/>
            </a:pPr>
            <a:r>
              <a:rPr lang="en-US" sz="2500" b="1" dirty="0">
                <a:solidFill>
                  <a:srgbClr val="F4F8FC"/>
                </a:solidFill>
              </a:rPr>
              <a:t>Trust, traceability, and a feedback loop turn RAG into a useful product</a:t>
            </a:r>
            <a:endParaRPr lang="en-US" sz="2500" dirty="0"/>
          </a:p>
        </p:txBody>
      </p:sp>
      <p:sp>
        <p:nvSpPr>
          <p:cNvPr id="7" name="Text 5"/>
          <p:cNvSpPr/>
          <p:nvPr/>
        </p:nvSpPr>
        <p:spPr>
          <a:xfrm>
            <a:off x="548640" y="1152144"/>
            <a:ext cx="10332720" cy="283464"/>
          </a:xfrm>
          <a:prstGeom prst="rect">
            <a:avLst/>
          </a:prstGeom>
          <a:noFill/>
          <a:ln/>
        </p:spPr>
        <p:txBody>
          <a:bodyPr wrap="square" lIns="0" tIns="0" rIns="0" bIns="0" rtlCol="0" anchor="ctr">
            <a:normAutofit/>
          </a:bodyPr>
          <a:lstStyle/>
          <a:p>
            <a:pPr indent="0" marL="0">
              <a:buNone/>
            </a:pPr>
            <a:r>
              <a:rPr lang="en-US" sz="1050" dirty="0">
                <a:solidFill>
                  <a:srgbClr val="A9B8CA"/>
                </a:solidFill>
              </a:rPr>
              <a:t>The value is faster security guidance without losing the ability to review or improve it.</a:t>
            </a:r>
            <a:endParaRPr lang="en-US" sz="1050" dirty="0"/>
          </a:p>
        </p:txBody>
      </p:sp>
      <p:sp>
        <p:nvSpPr>
          <p:cNvPr id="8" name="Shape 6"/>
          <p:cNvSpPr/>
          <p:nvPr/>
        </p:nvSpPr>
        <p:spPr>
          <a:xfrm>
            <a:off x="548640" y="1691640"/>
            <a:ext cx="3456432" cy="3456432"/>
          </a:xfrm>
          <a:prstGeom prst="roundRect">
            <a:avLst>
              <a:gd name="adj" fmla="val 2116"/>
            </a:avLst>
          </a:prstGeom>
          <a:solidFill>
            <a:srgbClr val="111D30"/>
          </a:solidFill>
          <a:ln w="10160">
            <a:solidFill>
              <a:srgbClr val="294462"/>
            </a:solidFill>
            <a:prstDash val="solid"/>
          </a:ln>
        </p:spPr>
      </p:sp>
      <p:sp>
        <p:nvSpPr>
          <p:cNvPr id="9" name="Shape 7"/>
          <p:cNvSpPr/>
          <p:nvPr/>
        </p:nvSpPr>
        <p:spPr>
          <a:xfrm>
            <a:off x="548640" y="1691640"/>
            <a:ext cx="45720" cy="3456432"/>
          </a:xfrm>
          <a:prstGeom prst="rect">
            <a:avLst/>
          </a:prstGeom>
          <a:solidFill>
            <a:srgbClr val="B7A6FF"/>
          </a:solidFill>
          <a:ln w="12700">
            <a:solidFill>
              <a:srgbClr val="B7A6FF"/>
            </a:solidFill>
            <a:prstDash val="solid"/>
          </a:ln>
        </p:spPr>
      </p:sp>
      <p:sp>
        <p:nvSpPr>
          <p:cNvPr id="10" name="Text 8"/>
          <p:cNvSpPr/>
          <p:nvPr/>
        </p:nvSpPr>
        <p:spPr>
          <a:xfrm>
            <a:off x="768096" y="1865376"/>
            <a:ext cx="3090672" cy="201168"/>
          </a:xfrm>
          <a:prstGeom prst="rect">
            <a:avLst/>
          </a:prstGeom>
          <a:noFill/>
          <a:ln/>
        </p:spPr>
        <p:txBody>
          <a:bodyPr wrap="square" lIns="0" tIns="0" rIns="0" bIns="0" rtlCol="0" anchor="ctr">
            <a:normAutofit/>
          </a:bodyPr>
          <a:lstStyle/>
          <a:p>
            <a:pPr indent="0" marL="0">
              <a:buNone/>
            </a:pPr>
            <a:r>
              <a:rPr lang="en-US" sz="1100" b="1" dirty="0">
                <a:solidFill>
                  <a:srgbClr val="F4F8FC"/>
                </a:solidFill>
              </a:rPr>
              <a:t>Lessons learned</a:t>
            </a:r>
            <a:endParaRPr lang="en-US" sz="1100" dirty="0"/>
          </a:p>
        </p:txBody>
      </p:sp>
      <p:sp>
        <p:nvSpPr>
          <p:cNvPr id="11" name="Shape 9"/>
          <p:cNvSpPr/>
          <p:nvPr/>
        </p:nvSpPr>
        <p:spPr>
          <a:xfrm>
            <a:off x="795528" y="2286000"/>
            <a:ext cx="64008" cy="64008"/>
          </a:xfrm>
          <a:prstGeom prst="ellipse">
            <a:avLst/>
          </a:prstGeom>
          <a:solidFill>
            <a:srgbClr val="67E8F9"/>
          </a:solidFill>
          <a:ln w="12700">
            <a:solidFill>
              <a:srgbClr val="67E8F9"/>
            </a:solidFill>
            <a:prstDash val="solid"/>
          </a:ln>
        </p:spPr>
      </p:sp>
      <p:sp>
        <p:nvSpPr>
          <p:cNvPr id="12" name="Text 10"/>
          <p:cNvSpPr/>
          <p:nvPr/>
        </p:nvSpPr>
        <p:spPr>
          <a:xfrm>
            <a:off x="960120" y="2212848"/>
            <a:ext cx="2761488" cy="256032"/>
          </a:xfrm>
          <a:prstGeom prst="rect">
            <a:avLst/>
          </a:prstGeom>
          <a:noFill/>
          <a:ln/>
        </p:spPr>
        <p:txBody>
          <a:bodyPr wrap="square" lIns="0" tIns="0" rIns="0" bIns="0" rtlCol="0" anchor="ctr">
            <a:normAutofit/>
          </a:bodyPr>
          <a:lstStyle/>
          <a:p>
            <a:pPr indent="0" marL="0">
              <a:buNone/>
            </a:pPr>
            <a:r>
              <a:rPr lang="en-US" sz="1000" dirty="0">
                <a:solidFill>
                  <a:srgbClr val="F4F8FC"/>
                </a:solidFill>
              </a:rPr>
              <a:t>Streaming needs careful UI state and cancellation handling</a:t>
            </a:r>
            <a:endParaRPr lang="en-US" sz="1000" dirty="0"/>
          </a:p>
        </p:txBody>
      </p:sp>
      <p:sp>
        <p:nvSpPr>
          <p:cNvPr id="13" name="Shape 11"/>
          <p:cNvSpPr/>
          <p:nvPr/>
        </p:nvSpPr>
        <p:spPr>
          <a:xfrm>
            <a:off x="795528" y="2862072"/>
            <a:ext cx="64008" cy="64008"/>
          </a:xfrm>
          <a:prstGeom prst="ellipse">
            <a:avLst/>
          </a:prstGeom>
          <a:solidFill>
            <a:srgbClr val="67E8F9"/>
          </a:solidFill>
          <a:ln w="12700">
            <a:solidFill>
              <a:srgbClr val="67E8F9"/>
            </a:solidFill>
            <a:prstDash val="solid"/>
          </a:ln>
        </p:spPr>
      </p:sp>
      <p:sp>
        <p:nvSpPr>
          <p:cNvPr id="14" name="Text 12"/>
          <p:cNvSpPr/>
          <p:nvPr/>
        </p:nvSpPr>
        <p:spPr>
          <a:xfrm>
            <a:off x="960120" y="2788920"/>
            <a:ext cx="2761488" cy="256032"/>
          </a:xfrm>
          <a:prstGeom prst="rect">
            <a:avLst/>
          </a:prstGeom>
          <a:noFill/>
          <a:ln/>
        </p:spPr>
        <p:txBody>
          <a:bodyPr wrap="square" lIns="0" tIns="0" rIns="0" bIns="0" rtlCol="0" anchor="ctr">
            <a:normAutofit/>
          </a:bodyPr>
          <a:lstStyle/>
          <a:p>
            <a:pPr indent="0" marL="0">
              <a:buNone/>
            </a:pPr>
            <a:r>
              <a:rPr lang="en-US" sz="1000" dirty="0">
                <a:solidFill>
                  <a:srgbClr val="F4F8FC"/>
                </a:solidFill>
              </a:rPr>
              <a:t>Citations are essential for trust in security answers</a:t>
            </a:r>
            <a:endParaRPr lang="en-US" sz="1000" dirty="0"/>
          </a:p>
        </p:txBody>
      </p:sp>
      <p:sp>
        <p:nvSpPr>
          <p:cNvPr id="15" name="Shape 13"/>
          <p:cNvSpPr/>
          <p:nvPr/>
        </p:nvSpPr>
        <p:spPr>
          <a:xfrm>
            <a:off x="795528" y="3438144"/>
            <a:ext cx="64008" cy="64008"/>
          </a:xfrm>
          <a:prstGeom prst="ellipse">
            <a:avLst/>
          </a:prstGeom>
          <a:solidFill>
            <a:srgbClr val="67E8F9"/>
          </a:solidFill>
          <a:ln w="12700">
            <a:solidFill>
              <a:srgbClr val="67E8F9"/>
            </a:solidFill>
            <a:prstDash val="solid"/>
          </a:ln>
        </p:spPr>
      </p:sp>
      <p:sp>
        <p:nvSpPr>
          <p:cNvPr id="16" name="Text 14"/>
          <p:cNvSpPr/>
          <p:nvPr/>
        </p:nvSpPr>
        <p:spPr>
          <a:xfrm>
            <a:off x="960120" y="3364992"/>
            <a:ext cx="2761488" cy="256032"/>
          </a:xfrm>
          <a:prstGeom prst="rect">
            <a:avLst/>
          </a:prstGeom>
          <a:noFill/>
          <a:ln/>
        </p:spPr>
        <p:txBody>
          <a:bodyPr wrap="square" lIns="0" tIns="0" rIns="0" bIns="0" rtlCol="0" anchor="ctr">
            <a:normAutofit/>
          </a:bodyPr>
          <a:lstStyle/>
          <a:p>
            <a:pPr indent="0" marL="0">
              <a:buNone/>
            </a:pPr>
            <a:r>
              <a:rPr lang="en-US" sz="1000" dirty="0">
                <a:solidFill>
                  <a:srgbClr val="F4F8FC"/>
                </a:solidFill>
              </a:rPr>
              <a:t>Versions make regeneration reviewable, not disposable</a:t>
            </a:r>
            <a:endParaRPr lang="en-US" sz="1000" dirty="0"/>
          </a:p>
        </p:txBody>
      </p:sp>
      <p:sp>
        <p:nvSpPr>
          <p:cNvPr id="17" name="Shape 15"/>
          <p:cNvSpPr/>
          <p:nvPr/>
        </p:nvSpPr>
        <p:spPr>
          <a:xfrm>
            <a:off x="795528" y="4014216"/>
            <a:ext cx="64008" cy="64008"/>
          </a:xfrm>
          <a:prstGeom prst="ellipse">
            <a:avLst/>
          </a:prstGeom>
          <a:solidFill>
            <a:srgbClr val="67E8F9"/>
          </a:solidFill>
          <a:ln w="12700">
            <a:solidFill>
              <a:srgbClr val="67E8F9"/>
            </a:solidFill>
            <a:prstDash val="solid"/>
          </a:ln>
        </p:spPr>
      </p:sp>
      <p:sp>
        <p:nvSpPr>
          <p:cNvPr id="18" name="Text 16"/>
          <p:cNvSpPr/>
          <p:nvPr/>
        </p:nvSpPr>
        <p:spPr>
          <a:xfrm>
            <a:off x="960120" y="3941064"/>
            <a:ext cx="2761488" cy="256032"/>
          </a:xfrm>
          <a:prstGeom prst="rect">
            <a:avLst/>
          </a:prstGeom>
          <a:noFill/>
          <a:ln/>
        </p:spPr>
        <p:txBody>
          <a:bodyPr wrap="square" lIns="0" tIns="0" rIns="0" bIns="0" rtlCol="0" anchor="ctr">
            <a:normAutofit/>
          </a:bodyPr>
          <a:lstStyle/>
          <a:p>
            <a:pPr indent="0" marL="0">
              <a:buNone/>
            </a:pPr>
            <a:r>
              <a:rPr lang="en-US" sz="1000" dirty="0">
                <a:solidFill>
                  <a:srgbClr val="F4F8FC"/>
                </a:solidFill>
              </a:rPr>
              <a:t>Identity and service setup must be tested early</a:t>
            </a:r>
            <a:endParaRPr lang="en-US" sz="1000" dirty="0"/>
          </a:p>
        </p:txBody>
      </p:sp>
      <p:sp>
        <p:nvSpPr>
          <p:cNvPr id="19" name="Shape 17"/>
          <p:cNvSpPr/>
          <p:nvPr/>
        </p:nvSpPr>
        <p:spPr>
          <a:xfrm>
            <a:off x="4361688" y="1691640"/>
            <a:ext cx="3456432" cy="3456432"/>
          </a:xfrm>
          <a:prstGeom prst="roundRect">
            <a:avLst>
              <a:gd name="adj" fmla="val 2116"/>
            </a:avLst>
          </a:prstGeom>
          <a:solidFill>
            <a:srgbClr val="111D30"/>
          </a:solidFill>
          <a:ln w="10160">
            <a:solidFill>
              <a:srgbClr val="294462"/>
            </a:solidFill>
            <a:prstDash val="solid"/>
          </a:ln>
        </p:spPr>
      </p:sp>
      <p:sp>
        <p:nvSpPr>
          <p:cNvPr id="20" name="Shape 18"/>
          <p:cNvSpPr/>
          <p:nvPr/>
        </p:nvSpPr>
        <p:spPr>
          <a:xfrm>
            <a:off x="4361688" y="1691640"/>
            <a:ext cx="45720" cy="3456432"/>
          </a:xfrm>
          <a:prstGeom prst="rect">
            <a:avLst/>
          </a:prstGeom>
          <a:solidFill>
            <a:srgbClr val="6EE7B7"/>
          </a:solidFill>
          <a:ln w="12700">
            <a:solidFill>
              <a:srgbClr val="6EE7B7"/>
            </a:solidFill>
            <a:prstDash val="solid"/>
          </a:ln>
        </p:spPr>
      </p:sp>
      <p:sp>
        <p:nvSpPr>
          <p:cNvPr id="21" name="Text 19"/>
          <p:cNvSpPr/>
          <p:nvPr/>
        </p:nvSpPr>
        <p:spPr>
          <a:xfrm>
            <a:off x="4581144" y="1865376"/>
            <a:ext cx="3090672" cy="201168"/>
          </a:xfrm>
          <a:prstGeom prst="rect">
            <a:avLst/>
          </a:prstGeom>
          <a:noFill/>
          <a:ln/>
        </p:spPr>
        <p:txBody>
          <a:bodyPr wrap="square" lIns="0" tIns="0" rIns="0" bIns="0" rtlCol="0" anchor="ctr">
            <a:normAutofit/>
          </a:bodyPr>
          <a:lstStyle/>
          <a:p>
            <a:pPr indent="0" marL="0">
              <a:buNone/>
            </a:pPr>
            <a:r>
              <a:rPr lang="en-US" sz="1100" b="1" dirty="0">
                <a:solidFill>
                  <a:srgbClr val="F4F8FC"/>
                </a:solidFill>
              </a:rPr>
              <a:t>Business value</a:t>
            </a:r>
            <a:endParaRPr lang="en-US" sz="1100" dirty="0"/>
          </a:p>
        </p:txBody>
      </p:sp>
      <p:sp>
        <p:nvSpPr>
          <p:cNvPr id="22" name="Shape 20"/>
          <p:cNvSpPr/>
          <p:nvPr/>
        </p:nvSpPr>
        <p:spPr>
          <a:xfrm>
            <a:off x="4608576" y="2286000"/>
            <a:ext cx="64008" cy="64008"/>
          </a:xfrm>
          <a:prstGeom prst="ellipse">
            <a:avLst/>
          </a:prstGeom>
          <a:solidFill>
            <a:srgbClr val="67E8F9"/>
          </a:solidFill>
          <a:ln w="12700">
            <a:solidFill>
              <a:srgbClr val="67E8F9"/>
            </a:solidFill>
            <a:prstDash val="solid"/>
          </a:ln>
        </p:spPr>
      </p:sp>
      <p:sp>
        <p:nvSpPr>
          <p:cNvPr id="23" name="Text 21"/>
          <p:cNvSpPr/>
          <p:nvPr/>
        </p:nvSpPr>
        <p:spPr>
          <a:xfrm>
            <a:off x="4773168" y="2212848"/>
            <a:ext cx="2761488" cy="256032"/>
          </a:xfrm>
          <a:prstGeom prst="rect">
            <a:avLst/>
          </a:prstGeom>
          <a:noFill/>
          <a:ln/>
        </p:spPr>
        <p:txBody>
          <a:bodyPr wrap="square" lIns="0" tIns="0" rIns="0" bIns="0" rtlCol="0" anchor="ctr">
            <a:normAutofit/>
          </a:bodyPr>
          <a:lstStyle/>
          <a:p>
            <a:pPr indent="0" marL="0">
              <a:buNone/>
            </a:pPr>
            <a:r>
              <a:rPr lang="en-US" sz="1000" dirty="0">
                <a:solidFill>
                  <a:srgbClr val="F4F8FC"/>
                </a:solidFill>
              </a:rPr>
              <a:t>Faster access to CIS guidance</a:t>
            </a:r>
            <a:endParaRPr lang="en-US" sz="1000" dirty="0"/>
          </a:p>
        </p:txBody>
      </p:sp>
      <p:sp>
        <p:nvSpPr>
          <p:cNvPr id="24" name="Shape 22"/>
          <p:cNvSpPr/>
          <p:nvPr/>
        </p:nvSpPr>
        <p:spPr>
          <a:xfrm>
            <a:off x="4608576" y="2862072"/>
            <a:ext cx="64008" cy="64008"/>
          </a:xfrm>
          <a:prstGeom prst="ellipse">
            <a:avLst/>
          </a:prstGeom>
          <a:solidFill>
            <a:srgbClr val="67E8F9"/>
          </a:solidFill>
          <a:ln w="12700">
            <a:solidFill>
              <a:srgbClr val="67E8F9"/>
            </a:solidFill>
            <a:prstDash val="solid"/>
          </a:ln>
        </p:spPr>
      </p:sp>
      <p:sp>
        <p:nvSpPr>
          <p:cNvPr id="25" name="Text 23"/>
          <p:cNvSpPr/>
          <p:nvPr/>
        </p:nvSpPr>
        <p:spPr>
          <a:xfrm>
            <a:off x="4773168" y="2788920"/>
            <a:ext cx="2761488" cy="256032"/>
          </a:xfrm>
          <a:prstGeom prst="rect">
            <a:avLst/>
          </a:prstGeom>
          <a:noFill/>
          <a:ln/>
        </p:spPr>
        <p:txBody>
          <a:bodyPr wrap="square" lIns="0" tIns="0" rIns="0" bIns="0" rtlCol="0" anchor="ctr">
            <a:normAutofit/>
          </a:bodyPr>
          <a:lstStyle/>
          <a:p>
            <a:pPr indent="0" marL="0">
              <a:buNone/>
            </a:pPr>
            <a:r>
              <a:rPr lang="en-US" sz="1000" dirty="0">
                <a:solidFill>
                  <a:srgbClr val="F4F8FC"/>
                </a:solidFill>
              </a:rPr>
              <a:t>More consistent, source-backed decisions</a:t>
            </a:r>
            <a:endParaRPr lang="en-US" sz="1000" dirty="0"/>
          </a:p>
        </p:txBody>
      </p:sp>
      <p:sp>
        <p:nvSpPr>
          <p:cNvPr id="26" name="Shape 24"/>
          <p:cNvSpPr/>
          <p:nvPr/>
        </p:nvSpPr>
        <p:spPr>
          <a:xfrm>
            <a:off x="4608576" y="3438144"/>
            <a:ext cx="64008" cy="64008"/>
          </a:xfrm>
          <a:prstGeom prst="ellipse">
            <a:avLst/>
          </a:prstGeom>
          <a:solidFill>
            <a:srgbClr val="67E8F9"/>
          </a:solidFill>
          <a:ln w="12700">
            <a:solidFill>
              <a:srgbClr val="67E8F9"/>
            </a:solidFill>
            <a:prstDash val="solid"/>
          </a:ln>
        </p:spPr>
      </p:sp>
      <p:sp>
        <p:nvSpPr>
          <p:cNvPr id="27" name="Text 25"/>
          <p:cNvSpPr/>
          <p:nvPr/>
        </p:nvSpPr>
        <p:spPr>
          <a:xfrm>
            <a:off x="4773168" y="3364992"/>
            <a:ext cx="2761488" cy="256032"/>
          </a:xfrm>
          <a:prstGeom prst="rect">
            <a:avLst/>
          </a:prstGeom>
          <a:noFill/>
          <a:ln/>
        </p:spPr>
        <p:txBody>
          <a:bodyPr wrap="square" lIns="0" tIns="0" rIns="0" bIns="0" rtlCol="0" anchor="ctr">
            <a:normAutofit/>
          </a:bodyPr>
          <a:lstStyle/>
          <a:p>
            <a:pPr indent="0" marL="0">
              <a:buNone/>
            </a:pPr>
            <a:r>
              <a:rPr lang="en-US" sz="1000" dirty="0">
                <a:solidFill>
                  <a:srgbClr val="F4F8FC"/>
                </a:solidFill>
              </a:rPr>
              <a:t>Reusable knowledge across security teams</a:t>
            </a:r>
            <a:endParaRPr lang="en-US" sz="1000" dirty="0"/>
          </a:p>
        </p:txBody>
      </p:sp>
      <p:sp>
        <p:nvSpPr>
          <p:cNvPr id="28" name="Shape 26"/>
          <p:cNvSpPr/>
          <p:nvPr/>
        </p:nvSpPr>
        <p:spPr>
          <a:xfrm>
            <a:off x="4608576" y="4014216"/>
            <a:ext cx="64008" cy="64008"/>
          </a:xfrm>
          <a:prstGeom prst="ellipse">
            <a:avLst/>
          </a:prstGeom>
          <a:solidFill>
            <a:srgbClr val="67E8F9"/>
          </a:solidFill>
          <a:ln w="12700">
            <a:solidFill>
              <a:srgbClr val="67E8F9"/>
            </a:solidFill>
            <a:prstDash val="solid"/>
          </a:ln>
        </p:spPr>
      </p:sp>
      <p:sp>
        <p:nvSpPr>
          <p:cNvPr id="29" name="Text 27"/>
          <p:cNvSpPr/>
          <p:nvPr/>
        </p:nvSpPr>
        <p:spPr>
          <a:xfrm>
            <a:off x="4773168" y="3941064"/>
            <a:ext cx="2761488" cy="256032"/>
          </a:xfrm>
          <a:prstGeom prst="rect">
            <a:avLst/>
          </a:prstGeom>
          <a:noFill/>
          <a:ln/>
        </p:spPr>
        <p:txBody>
          <a:bodyPr wrap="square" lIns="0" tIns="0" rIns="0" bIns="0" rtlCol="0" anchor="ctr">
            <a:normAutofit/>
          </a:bodyPr>
          <a:lstStyle/>
          <a:p>
            <a:pPr indent="0" marL="0">
              <a:buNone/>
            </a:pPr>
            <a:r>
              <a:rPr lang="en-US" sz="1000" dirty="0">
                <a:solidFill>
                  <a:srgbClr val="F4F8FC"/>
                </a:solidFill>
              </a:rPr>
              <a:t>Auditability for responsible AI adoption</a:t>
            </a:r>
            <a:endParaRPr lang="en-US" sz="1000" dirty="0"/>
          </a:p>
        </p:txBody>
      </p:sp>
      <p:sp>
        <p:nvSpPr>
          <p:cNvPr id="30" name="Shape 28"/>
          <p:cNvSpPr/>
          <p:nvPr/>
        </p:nvSpPr>
        <p:spPr>
          <a:xfrm>
            <a:off x="8174736" y="1691640"/>
            <a:ext cx="3456432" cy="3456432"/>
          </a:xfrm>
          <a:prstGeom prst="roundRect">
            <a:avLst>
              <a:gd name="adj" fmla="val 2116"/>
            </a:avLst>
          </a:prstGeom>
          <a:solidFill>
            <a:srgbClr val="111D30"/>
          </a:solidFill>
          <a:ln w="10160">
            <a:solidFill>
              <a:srgbClr val="294462"/>
            </a:solidFill>
            <a:prstDash val="solid"/>
          </a:ln>
        </p:spPr>
      </p:sp>
      <p:sp>
        <p:nvSpPr>
          <p:cNvPr id="31" name="Shape 29"/>
          <p:cNvSpPr/>
          <p:nvPr/>
        </p:nvSpPr>
        <p:spPr>
          <a:xfrm>
            <a:off x="8174736" y="1691640"/>
            <a:ext cx="45720" cy="3456432"/>
          </a:xfrm>
          <a:prstGeom prst="rect">
            <a:avLst/>
          </a:prstGeom>
          <a:solidFill>
            <a:srgbClr val="67E8F9"/>
          </a:solidFill>
          <a:ln w="12700">
            <a:solidFill>
              <a:srgbClr val="67E8F9"/>
            </a:solidFill>
            <a:prstDash val="solid"/>
          </a:ln>
        </p:spPr>
      </p:sp>
      <p:sp>
        <p:nvSpPr>
          <p:cNvPr id="32" name="Text 30"/>
          <p:cNvSpPr/>
          <p:nvPr/>
        </p:nvSpPr>
        <p:spPr>
          <a:xfrm>
            <a:off x="8394192" y="1865376"/>
            <a:ext cx="3090672" cy="201168"/>
          </a:xfrm>
          <a:prstGeom prst="rect">
            <a:avLst/>
          </a:prstGeom>
          <a:noFill/>
          <a:ln/>
        </p:spPr>
        <p:txBody>
          <a:bodyPr wrap="square" lIns="0" tIns="0" rIns="0" bIns="0" rtlCol="0" anchor="ctr">
            <a:normAutofit/>
          </a:bodyPr>
          <a:lstStyle/>
          <a:p>
            <a:pPr indent="0" marL="0">
              <a:buNone/>
            </a:pPr>
            <a:r>
              <a:rPr lang="en-US" sz="1100" b="1" dirty="0">
                <a:solidFill>
                  <a:srgbClr val="F4F8FC"/>
                </a:solidFill>
              </a:rPr>
              <a:t>Feedback loop</a:t>
            </a:r>
            <a:endParaRPr lang="en-US" sz="1100" dirty="0"/>
          </a:p>
        </p:txBody>
      </p:sp>
      <p:sp>
        <p:nvSpPr>
          <p:cNvPr id="33" name="Text 31"/>
          <p:cNvSpPr/>
          <p:nvPr/>
        </p:nvSpPr>
        <p:spPr>
          <a:xfrm>
            <a:off x="8549640" y="2139696"/>
            <a:ext cx="685800" cy="228600"/>
          </a:xfrm>
          <a:prstGeom prst="rect">
            <a:avLst/>
          </a:prstGeom>
          <a:noFill/>
          <a:ln/>
        </p:spPr>
        <p:txBody>
          <a:bodyPr wrap="square" lIns="0" tIns="0" rIns="0" bIns="0" rtlCol="0" anchor="ctr"/>
          <a:lstStyle/>
          <a:p>
            <a:pPr indent="0" marL="0">
              <a:buNone/>
            </a:pPr>
            <a:r>
              <a:rPr lang="en-US" sz="1300" b="1" dirty="0">
                <a:solidFill>
                  <a:srgbClr val="F4F8FC"/>
                </a:solidFill>
              </a:rPr>
              <a:t>Ask</a:t>
            </a:r>
            <a:endParaRPr lang="en-US" sz="1300" dirty="0"/>
          </a:p>
        </p:txBody>
      </p:sp>
      <p:sp>
        <p:nvSpPr>
          <p:cNvPr id="34" name="Text 32"/>
          <p:cNvSpPr/>
          <p:nvPr/>
        </p:nvSpPr>
        <p:spPr>
          <a:xfrm>
            <a:off x="9253728" y="2121408"/>
            <a:ext cx="274320" cy="228600"/>
          </a:xfrm>
          <a:prstGeom prst="rect">
            <a:avLst/>
          </a:prstGeom>
          <a:noFill/>
          <a:ln/>
        </p:spPr>
        <p:txBody>
          <a:bodyPr wrap="square" lIns="0" tIns="0" rIns="0" bIns="0" rtlCol="0" anchor="ctr"/>
          <a:lstStyle/>
          <a:p>
            <a:pPr indent="0" marL="0">
              <a:buNone/>
            </a:pPr>
            <a:r>
              <a:rPr lang="en-US" sz="1600" dirty="0">
                <a:solidFill>
                  <a:srgbClr val="67E8F9"/>
                </a:solidFill>
              </a:rPr>
              <a:t>→</a:t>
            </a:r>
            <a:endParaRPr lang="en-US" sz="1600" dirty="0"/>
          </a:p>
        </p:txBody>
      </p:sp>
      <p:sp>
        <p:nvSpPr>
          <p:cNvPr id="35" name="Text 33"/>
          <p:cNvSpPr/>
          <p:nvPr/>
        </p:nvSpPr>
        <p:spPr>
          <a:xfrm>
            <a:off x="9555480" y="2139696"/>
            <a:ext cx="777240" cy="228600"/>
          </a:xfrm>
          <a:prstGeom prst="rect">
            <a:avLst/>
          </a:prstGeom>
          <a:noFill/>
          <a:ln/>
        </p:spPr>
        <p:txBody>
          <a:bodyPr wrap="square" lIns="0" tIns="0" rIns="0" bIns="0" rtlCol="0" anchor="ctr"/>
          <a:lstStyle/>
          <a:p>
            <a:pPr indent="0" marL="0">
              <a:buNone/>
            </a:pPr>
            <a:r>
              <a:rPr lang="en-US" sz="1300" b="1" dirty="0">
                <a:solidFill>
                  <a:srgbClr val="F4F8FC"/>
                </a:solidFill>
              </a:rPr>
              <a:t>Verify</a:t>
            </a:r>
            <a:endParaRPr lang="en-US" sz="1300" dirty="0"/>
          </a:p>
        </p:txBody>
      </p:sp>
      <p:sp>
        <p:nvSpPr>
          <p:cNvPr id="36" name="Text 34"/>
          <p:cNvSpPr/>
          <p:nvPr/>
        </p:nvSpPr>
        <p:spPr>
          <a:xfrm>
            <a:off x="10378440" y="2121408"/>
            <a:ext cx="274320" cy="228600"/>
          </a:xfrm>
          <a:prstGeom prst="rect">
            <a:avLst/>
          </a:prstGeom>
          <a:noFill/>
          <a:ln/>
        </p:spPr>
        <p:txBody>
          <a:bodyPr wrap="square" lIns="0" tIns="0" rIns="0" bIns="0" rtlCol="0" anchor="ctr"/>
          <a:lstStyle/>
          <a:p>
            <a:pPr indent="0" marL="0">
              <a:buNone/>
            </a:pPr>
            <a:r>
              <a:rPr lang="en-US" sz="1600" dirty="0">
                <a:solidFill>
                  <a:srgbClr val="67E8F9"/>
                </a:solidFill>
              </a:rPr>
              <a:t>→</a:t>
            </a:r>
            <a:endParaRPr lang="en-US" sz="1600" dirty="0"/>
          </a:p>
        </p:txBody>
      </p:sp>
      <p:sp>
        <p:nvSpPr>
          <p:cNvPr id="37" name="Text 35"/>
          <p:cNvSpPr/>
          <p:nvPr/>
        </p:nvSpPr>
        <p:spPr>
          <a:xfrm>
            <a:off x="10680192" y="2139696"/>
            <a:ext cx="658368" cy="228600"/>
          </a:xfrm>
          <a:prstGeom prst="rect">
            <a:avLst/>
          </a:prstGeom>
          <a:noFill/>
          <a:ln/>
        </p:spPr>
        <p:txBody>
          <a:bodyPr wrap="square" lIns="0" tIns="0" rIns="0" bIns="0" rtlCol="0" anchor="ctr"/>
          <a:lstStyle/>
          <a:p>
            <a:pPr indent="0" marL="0">
              <a:buNone/>
            </a:pPr>
            <a:r>
              <a:rPr lang="en-US" sz="1300" b="1" dirty="0">
                <a:solidFill>
                  <a:srgbClr val="F4F8FC"/>
                </a:solidFill>
              </a:rPr>
              <a:t>Improve</a:t>
            </a:r>
            <a:endParaRPr lang="en-US" sz="1300" dirty="0"/>
          </a:p>
        </p:txBody>
      </p:sp>
      <p:sp>
        <p:nvSpPr>
          <p:cNvPr id="38" name="Shape 36"/>
          <p:cNvSpPr/>
          <p:nvPr/>
        </p:nvSpPr>
        <p:spPr>
          <a:xfrm>
            <a:off x="8540496" y="2587752"/>
            <a:ext cx="2468880" cy="0"/>
          </a:xfrm>
          <a:prstGeom prst="line">
            <a:avLst/>
          </a:prstGeom>
          <a:noFill/>
          <a:ln w="19050">
            <a:solidFill>
              <a:srgbClr val="67E8F9"/>
            </a:solidFill>
            <a:prstDash val="solid"/>
            <a:headEnd type="none"/>
            <a:tailEnd type="triangle"/>
          </a:ln>
        </p:spPr>
      </p:sp>
      <p:sp>
        <p:nvSpPr>
          <p:cNvPr id="39" name="Text 37"/>
          <p:cNvSpPr/>
          <p:nvPr/>
        </p:nvSpPr>
        <p:spPr>
          <a:xfrm>
            <a:off x="8458200" y="3063240"/>
            <a:ext cx="2788920" cy="685800"/>
          </a:xfrm>
          <a:prstGeom prst="rect">
            <a:avLst/>
          </a:prstGeom>
          <a:noFill/>
          <a:ln/>
        </p:spPr>
        <p:txBody>
          <a:bodyPr wrap="square" lIns="0" tIns="0" rIns="0" bIns="0" rtlCol="0" anchor="ctr">
            <a:normAutofit/>
          </a:bodyPr>
          <a:lstStyle/>
          <a:p>
            <a:pPr algn="ctr" indent="0" marL="0">
              <a:buNone/>
            </a:pPr>
            <a:r>
              <a:rPr lang="en-US" sz="1200" dirty="0">
                <a:solidFill>
                  <a:srgbClr val="A9B8CA"/>
                </a:solidFill>
              </a:rPr>
              <a:t>User feedback and response ratings become evidence for improving retrieval, prompts, and future answer quality.</a:t>
            </a:r>
            <a:endParaRPr lang="en-US" sz="1200" dirty="0"/>
          </a:p>
        </p:txBody>
      </p:sp>
      <p:sp>
        <p:nvSpPr>
          <p:cNvPr id="40" name="Shape 38"/>
          <p:cNvSpPr/>
          <p:nvPr/>
        </p:nvSpPr>
        <p:spPr>
          <a:xfrm>
            <a:off x="548640" y="5605272"/>
            <a:ext cx="11064240" cy="411480"/>
          </a:xfrm>
          <a:prstGeom prst="roundRect">
            <a:avLst>
              <a:gd name="adj" fmla="val 11111"/>
            </a:avLst>
          </a:prstGeom>
          <a:solidFill>
            <a:srgbClr val="113453"/>
          </a:solidFill>
          <a:ln w="12700">
            <a:solidFill>
              <a:srgbClr val="51A8FF">
                <a:alpha val="55000"/>
              </a:srgbClr>
            </a:solidFill>
            <a:prstDash val="solid"/>
          </a:ln>
        </p:spPr>
      </p:sp>
      <p:sp>
        <p:nvSpPr>
          <p:cNvPr id="41" name="Text 39"/>
          <p:cNvSpPr/>
          <p:nvPr/>
        </p:nvSpPr>
        <p:spPr>
          <a:xfrm>
            <a:off x="786384" y="5733288"/>
            <a:ext cx="10607040" cy="146304"/>
          </a:xfrm>
          <a:prstGeom prst="rect">
            <a:avLst/>
          </a:prstGeom>
          <a:noFill/>
          <a:ln/>
        </p:spPr>
        <p:txBody>
          <a:bodyPr wrap="square" lIns="0" tIns="0" rIns="0" bIns="0" rtlCol="0" anchor="ctr">
            <a:normAutofit/>
          </a:bodyPr>
          <a:lstStyle/>
          <a:p>
            <a:pPr algn="ctr" indent="0" marL="0">
              <a:buNone/>
            </a:pPr>
            <a:r>
              <a:rPr lang="en-US" sz="1050" b="1" dirty="0">
                <a:solidFill>
                  <a:srgbClr val="F4F8FC"/>
                </a:solidFill>
              </a:rPr>
              <a:t>Takeaway: the assistant accelerates CIS research while keeping humans in control through sources, versions, feedback, and auditability.</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DAR Internship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CIS Security Assistant — Delivery Overview</dc:title>
  <dc:subject>CIS Security Assistant delivery overview</dc:subject>
  <dc:creator>RAG Project Team</dc:creator>
  <cp:lastModifiedBy>RAG Project Team</cp:lastModifiedBy>
  <cp:revision>1</cp:revision>
  <dcterms:created xsi:type="dcterms:W3CDTF">2026-07-24T10:39:20Z</dcterms:created>
  <dcterms:modified xsi:type="dcterms:W3CDTF">2026-07-24T10:39:20Z</dcterms:modified>
</cp:coreProperties>
</file>